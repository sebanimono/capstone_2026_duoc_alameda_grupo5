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0B1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41CD10C6-1BAB-3A53-6C6F-6C234A915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>
            <a:extLst>
              <a:ext uri="{FF2B5EF4-FFF2-40B4-BE49-F238E27FC236}">
                <a16:creationId xmlns:a16="http://schemas.microsoft.com/office/drawing/2014/main" id="{A407C1E2-02FA-1A15-FCFF-9B72CE6A1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p5:notes">
            <a:extLst>
              <a:ext uri="{FF2B5EF4-FFF2-40B4-BE49-F238E27FC236}">
                <a16:creationId xmlns:a16="http://schemas.microsoft.com/office/drawing/2014/main" id="{1698D4D2-2188-D50E-B8C2-CD6F4166DA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823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A0B33288-407D-FA60-454B-B9C6A5AA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>
            <a:extLst>
              <a:ext uri="{FF2B5EF4-FFF2-40B4-BE49-F238E27FC236}">
                <a16:creationId xmlns:a16="http://schemas.microsoft.com/office/drawing/2014/main" id="{B0C2FF09-88E9-BBB5-4C7E-BAA350AED1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6:notes">
            <a:extLst>
              <a:ext uri="{FF2B5EF4-FFF2-40B4-BE49-F238E27FC236}">
                <a16:creationId xmlns:a16="http://schemas.microsoft.com/office/drawing/2014/main" id="{90D27F42-20D7-A1DC-1AA2-3A8E61095F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4210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5B7D6"/>
          </a:solidFill>
          <a:ln w="9525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94360" y="502920"/>
            <a:ext cx="3017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5B7D6"/>
                </a:solidFill>
              </a:rPr>
              <a:t>BCPTY4614 · Capstone</a:t>
            </a:r>
            <a:endParaRPr sz="1100">
              <a:solidFill>
                <a:srgbClr val="05B7D6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5B7D6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54360" y="1539685"/>
            <a:ext cx="5120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SSPILLOWY</a:t>
            </a:r>
            <a:endParaRPr sz="6000"/>
          </a:p>
        </p:txBody>
      </p:sp>
      <p:sp>
        <p:nvSpPr>
          <p:cNvPr id="87" name="Google Shape;87;p13"/>
          <p:cNvSpPr txBox="1"/>
          <p:nvPr/>
        </p:nvSpPr>
        <p:spPr>
          <a:xfrm>
            <a:off x="731598" y="2383900"/>
            <a:ext cx="59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5B7D6"/>
                </a:solidFill>
                <a:latin typeface="Arial"/>
                <a:ea typeface="Arial"/>
                <a:cs typeface="Arial"/>
                <a:sym typeface="Arial"/>
              </a:rPr>
              <a:t>Gobernanza DevSecOps</a:t>
            </a:r>
            <a:endParaRPr sz="3600"/>
          </a:p>
        </p:txBody>
      </p:sp>
      <p:sp>
        <p:nvSpPr>
          <p:cNvPr id="88" name="Google Shape;88;p13"/>
          <p:cNvSpPr txBox="1"/>
          <p:nvPr/>
        </p:nvSpPr>
        <p:spPr>
          <a:xfrm>
            <a:off x="662997" y="3766505"/>
            <a:ext cx="5303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Plataforma integral para detectar, priorizar y gestionar vulnerabilidades de software.</a:t>
            </a:r>
            <a:endParaRPr/>
          </a:p>
        </p:txBody>
      </p:sp>
      <p:cxnSp>
        <p:nvCxnSpPr>
          <p:cNvPr id="89" name="Google Shape;89;p13"/>
          <p:cNvCxnSpPr/>
          <p:nvPr/>
        </p:nvCxnSpPr>
        <p:spPr>
          <a:xfrm>
            <a:off x="731610" y="4480580"/>
            <a:ext cx="4846200" cy="0"/>
          </a:xfrm>
          <a:prstGeom prst="straightConnector1">
            <a:avLst/>
          </a:prstGeom>
          <a:noFill/>
          <a:ln w="38100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90" name="Google Shape;90;p13"/>
          <p:cNvSpPr txBox="1"/>
          <p:nvPr/>
        </p:nvSpPr>
        <p:spPr>
          <a:xfrm>
            <a:off x="711350" y="4971225"/>
            <a:ext cx="4612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Sebastián Tralma  ·  Benjamín Hernández  ·  Pilar Valencia</a:t>
            </a:r>
            <a:endParaRPr sz="1200" b="1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Docente: Carlos Herrera |  04 de septiembre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6400" y="439063"/>
            <a:ext cx="6111176" cy="5979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8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594360" y="292608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5B7D6"/>
          </a:solidFill>
          <a:ln w="9525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94360" y="35661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NEED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606044" y="310900"/>
            <a:ext cx="3474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¿</a:t>
            </a:r>
            <a:r>
              <a:rPr lang="en-US" sz="2400" b="1">
                <a:solidFill>
                  <a:srgbClr val="0B1B2B"/>
                </a:solidFill>
              </a:rPr>
              <a:t>Cuál es el</a:t>
            </a:r>
            <a:r>
              <a:rPr lang="en-US" sz="24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 problema?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94360" y="1143000"/>
            <a:ext cx="10972800" cy="1143000"/>
          </a:xfrm>
          <a:prstGeom prst="rect">
            <a:avLst/>
          </a:prstGeom>
          <a:solidFill>
            <a:srgbClr val="0B1B2B"/>
          </a:solidFill>
          <a:ln w="9525" cap="flat" cmpd="sng">
            <a:solidFill>
              <a:srgbClr val="0B1B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60120" y="1417320"/>
            <a:ext cx="10241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5B7D6"/>
                </a:solidFill>
                <a:latin typeface="Arial"/>
                <a:ea typeface="Arial"/>
                <a:cs typeface="Arial"/>
                <a:sym typeface="Arial"/>
              </a:rPr>
              <a:t>La seguridad está fragmentada, genera ruido y dificulta decidir a tiempo.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51560" y="1901952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AFC"/>
                </a:solidFill>
              </a:rPr>
              <a:t>Nuestro objetivo es que por la web </a:t>
            </a:r>
            <a: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SSPILLOWY </a:t>
            </a:r>
            <a:r>
              <a:rPr lang="en-US" sz="1200">
                <a:solidFill>
                  <a:srgbClr val="F8FAFC"/>
                </a:solidFill>
              </a:rPr>
              <a:t>podamos </a:t>
            </a:r>
            <a: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convertir múltiples señales técnicas en decisiones accionables.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94360" y="2606040"/>
            <a:ext cx="3474720" cy="324612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594360" y="2606040"/>
            <a:ext cx="64008" cy="3246120"/>
          </a:xfrm>
          <a:prstGeom prst="rect">
            <a:avLst/>
          </a:prstGeom>
          <a:solidFill>
            <a:srgbClr val="05B7D6"/>
          </a:solidFill>
          <a:ln w="9525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22942" y="2816357"/>
            <a:ext cx="2578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4263A"/>
                </a:solidFill>
                <a:latin typeface="Arial"/>
                <a:ea typeface="Arial"/>
                <a:cs typeface="Arial"/>
                <a:sym typeface="Arial"/>
              </a:rPr>
              <a:t>Herramientas aisladas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22960" y="3227832"/>
            <a:ext cx="3017520" cy="242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4263A"/>
                </a:solidFill>
                <a:latin typeface="Arial"/>
                <a:ea typeface="Arial"/>
                <a:cs typeface="Arial"/>
                <a:sym typeface="Arial"/>
              </a:rPr>
              <a:t>SAST, SCA, secretos y DAST producen reportes distintos y difíciles de consolidar.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4361688" y="2606040"/>
            <a:ext cx="3474720" cy="324612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F7A65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361688" y="2606040"/>
            <a:ext cx="64008" cy="3246120"/>
          </a:xfrm>
          <a:prstGeom prst="rect">
            <a:avLst/>
          </a:prstGeom>
          <a:solidFill>
            <a:srgbClr val="F7A65D"/>
          </a:solidFill>
          <a:ln w="9525" cap="flat" cmpd="sng">
            <a:solidFill>
              <a:srgbClr val="F7A65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576558" y="2842595"/>
            <a:ext cx="2578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4263A"/>
                </a:solidFill>
                <a:latin typeface="Arial"/>
                <a:ea typeface="Arial"/>
                <a:cs typeface="Arial"/>
                <a:sym typeface="Arial"/>
              </a:rPr>
              <a:t>Sobrecarga de hallazgos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590288" y="3227832"/>
            <a:ext cx="3017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4263A"/>
                </a:solidFill>
              </a:rPr>
              <a:t>Se pueden mezclar los</a:t>
            </a:r>
            <a:r>
              <a:rPr lang="en-US" sz="1300" b="0" i="0" u="none" strike="noStrike" cap="none">
                <a:solidFill>
                  <a:srgbClr val="14263A"/>
                </a:solidFill>
                <a:latin typeface="Arial"/>
                <a:ea typeface="Arial"/>
                <a:cs typeface="Arial"/>
                <a:sym typeface="Arial"/>
              </a:rPr>
              <a:t> riesgos reales con falsos positivos y poco contexto.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8129016" y="2606040"/>
            <a:ext cx="3474720" cy="324612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2DC4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8129016" y="2606040"/>
            <a:ext cx="64008" cy="3246120"/>
          </a:xfrm>
          <a:prstGeom prst="rect">
            <a:avLst/>
          </a:prstGeom>
          <a:solidFill>
            <a:srgbClr val="2DC4B4"/>
          </a:solidFill>
          <a:ln w="9525" cap="flat" cmpd="sng">
            <a:solidFill>
              <a:srgbClr val="2DC4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8330148" y="2816345"/>
            <a:ext cx="2578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4263A"/>
                </a:solidFill>
                <a:latin typeface="Arial"/>
                <a:ea typeface="Arial"/>
                <a:cs typeface="Arial"/>
                <a:sym typeface="Arial"/>
              </a:rPr>
              <a:t>Decisiones tardías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357616" y="3227832"/>
            <a:ext cx="3017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4263A"/>
                </a:solidFill>
                <a:latin typeface="Arial"/>
                <a:ea typeface="Arial"/>
                <a:cs typeface="Arial"/>
                <a:sym typeface="Arial"/>
              </a:rPr>
              <a:t>El equipo necesita saber qué bloquear, qué corregir y qué excepción aprobar.</a:t>
            </a:r>
            <a:endParaRPr/>
          </a:p>
        </p:txBody>
      </p:sp>
      <p:pic>
        <p:nvPicPr>
          <p:cNvPr id="114" name="Google Shape;11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50" y="3868406"/>
            <a:ext cx="3017525" cy="1983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900" y="3845050"/>
            <a:ext cx="3154900" cy="198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95000" y="3938041"/>
            <a:ext cx="2908401" cy="1900109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2DC4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B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/>
          <p:nvPr/>
        </p:nvSpPr>
        <p:spPr>
          <a:xfrm>
            <a:off x="594360" y="292608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7A65D"/>
          </a:solidFill>
          <a:ln w="9525" cap="flat" cmpd="sng">
            <a:solidFill>
              <a:srgbClr val="F7A65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94360" y="35661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2606040" y="310896"/>
            <a:ext cx="896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8FAFC"/>
                </a:solidFill>
              </a:rPr>
              <a:t>Flujo de </a:t>
            </a:r>
            <a:r>
              <a:rPr lang="en-US" sz="2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hallazgo accionable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685800" y="1143000"/>
            <a:ext cx="10835700" cy="5257800"/>
          </a:xfrm>
          <a:prstGeom prst="rect">
            <a:avLst/>
          </a:prstGeom>
          <a:solidFill>
            <a:srgbClr val="112848"/>
          </a:solidFill>
          <a:ln w="9525" cap="flat" cmpd="sng">
            <a:solidFill>
              <a:srgbClr val="1E3A6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960120" y="164592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05B7D6"/>
          </a:solidFill>
          <a:ln w="9525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960120" y="1783080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344176" y="1810500"/>
            <a:ext cx="1080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REPOSITORIO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60120" y="251460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Push / Pull Request</a:t>
            </a:r>
            <a:b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</p:txBody>
      </p:sp>
      <p:cxnSp>
        <p:nvCxnSpPr>
          <p:cNvPr id="129" name="Google Shape;129;p15"/>
          <p:cNvCxnSpPr/>
          <p:nvPr/>
        </p:nvCxnSpPr>
        <p:spPr>
          <a:xfrm>
            <a:off x="2468880" y="1965960"/>
            <a:ext cx="594360" cy="0"/>
          </a:xfrm>
          <a:prstGeom prst="straightConnector1">
            <a:avLst/>
          </a:prstGeom>
          <a:noFill/>
          <a:ln w="25400" cap="flat" cmpd="sng">
            <a:solidFill>
              <a:srgbClr val="F8FAF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30" name="Google Shape;130;p15"/>
          <p:cNvSpPr/>
          <p:nvPr/>
        </p:nvSpPr>
        <p:spPr>
          <a:xfrm>
            <a:off x="3063240" y="164592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F7A65D"/>
          </a:solidFill>
          <a:ln w="9525" cap="flat" cmpd="sng">
            <a:solidFill>
              <a:srgbClr val="F7A65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3063240" y="1783080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3447288" y="1810512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ESCANEO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3063240" y="251460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Semgrep · Trivy</a:t>
            </a:r>
            <a:b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GitLeaks · ZAP</a:t>
            </a:r>
            <a:endParaRPr/>
          </a:p>
        </p:txBody>
      </p:sp>
      <p:cxnSp>
        <p:nvCxnSpPr>
          <p:cNvPr id="134" name="Google Shape;134;p15"/>
          <p:cNvCxnSpPr/>
          <p:nvPr/>
        </p:nvCxnSpPr>
        <p:spPr>
          <a:xfrm>
            <a:off x="4572000" y="1965960"/>
            <a:ext cx="594360" cy="0"/>
          </a:xfrm>
          <a:prstGeom prst="straightConnector1">
            <a:avLst/>
          </a:prstGeom>
          <a:noFill/>
          <a:ln w="25400" cap="flat" cmpd="sng">
            <a:solidFill>
              <a:srgbClr val="F8FAF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35" name="Google Shape;135;p15"/>
          <p:cNvSpPr/>
          <p:nvPr/>
        </p:nvSpPr>
        <p:spPr>
          <a:xfrm>
            <a:off x="5166360" y="164592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2DC4B4"/>
          </a:solidFill>
          <a:ln w="9525" cap="flat" cmpd="sng">
            <a:solidFill>
              <a:srgbClr val="2DC4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5166360" y="1783080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5550408" y="1810512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NORMALIZACIÓN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5166360" y="251460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Worker</a:t>
            </a:r>
            <a:b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Redis + ARQ</a:t>
            </a:r>
            <a:endParaRPr/>
          </a:p>
        </p:txBody>
      </p:sp>
      <p:cxnSp>
        <p:nvCxnSpPr>
          <p:cNvPr id="139" name="Google Shape;139;p15"/>
          <p:cNvCxnSpPr/>
          <p:nvPr/>
        </p:nvCxnSpPr>
        <p:spPr>
          <a:xfrm>
            <a:off x="6675120" y="1965960"/>
            <a:ext cx="594360" cy="0"/>
          </a:xfrm>
          <a:prstGeom prst="straightConnector1">
            <a:avLst/>
          </a:prstGeom>
          <a:noFill/>
          <a:ln w="25400" cap="flat" cmpd="sng">
            <a:solidFill>
              <a:srgbClr val="F8FAF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40" name="Google Shape;140;p15"/>
          <p:cNvSpPr/>
          <p:nvPr/>
        </p:nvSpPr>
        <p:spPr>
          <a:xfrm>
            <a:off x="7269480" y="164592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05B7D6"/>
          </a:solidFill>
          <a:ln w="9525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7269480" y="1783080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7653528" y="1810512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TRIAJE IA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7269480" y="251460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Contexto · impacto</a:t>
            </a:r>
            <a:b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remediación</a:t>
            </a:r>
            <a:endParaRPr/>
          </a:p>
        </p:txBody>
      </p:sp>
      <p:cxnSp>
        <p:nvCxnSpPr>
          <p:cNvPr id="144" name="Google Shape;144;p15"/>
          <p:cNvCxnSpPr/>
          <p:nvPr/>
        </p:nvCxnSpPr>
        <p:spPr>
          <a:xfrm>
            <a:off x="8778240" y="1965960"/>
            <a:ext cx="594360" cy="0"/>
          </a:xfrm>
          <a:prstGeom prst="straightConnector1">
            <a:avLst/>
          </a:prstGeom>
          <a:noFill/>
          <a:ln w="25400" cap="flat" cmpd="sng">
            <a:solidFill>
              <a:srgbClr val="F8FAF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45" name="Google Shape;145;p15"/>
          <p:cNvSpPr/>
          <p:nvPr/>
        </p:nvSpPr>
        <p:spPr>
          <a:xfrm>
            <a:off x="9372600" y="1645920"/>
            <a:ext cx="1508760" cy="640080"/>
          </a:xfrm>
          <a:prstGeom prst="roundRect">
            <a:avLst>
              <a:gd name="adj" fmla="val 12000"/>
            </a:avLst>
          </a:prstGeom>
          <a:solidFill>
            <a:srgbClr val="F7A65D"/>
          </a:solidFill>
          <a:ln w="9525" cap="flat" cmpd="sng">
            <a:solidFill>
              <a:srgbClr val="F7A65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9372600" y="1783080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9756648" y="1810512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9372600" y="251460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Web Hub · Pulse</a:t>
            </a:r>
            <a:b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Security Gate</a:t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847325" y="4370814"/>
            <a:ext cx="3063300" cy="1874400"/>
          </a:xfrm>
          <a:prstGeom prst="rect">
            <a:avLst/>
          </a:prstGeom>
          <a:solidFill>
            <a:srgbClr val="0B1B2B"/>
          </a:solidFill>
          <a:ln w="9525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847325" y="4370764"/>
            <a:ext cx="63900" cy="1874400"/>
          </a:xfrm>
          <a:prstGeom prst="rect">
            <a:avLst/>
          </a:prstGeom>
          <a:solidFill>
            <a:srgbClr val="05B7D6"/>
          </a:solidFill>
          <a:ln w="9525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1230275" y="4965198"/>
            <a:ext cx="2297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5B7D6"/>
                </a:solidFill>
              </a:rPr>
              <a:t>Detección determinista sin inventar hallazgos.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4607068" y="4370714"/>
            <a:ext cx="3063300" cy="1874400"/>
          </a:xfrm>
          <a:prstGeom prst="rect">
            <a:avLst/>
          </a:prstGeom>
          <a:solidFill>
            <a:srgbClr val="0B1B2B"/>
          </a:solidFill>
          <a:ln w="9525" cap="flat" cmpd="sng">
            <a:solidFill>
              <a:srgbClr val="2DC4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4606980" y="4370764"/>
            <a:ext cx="63900" cy="1874400"/>
          </a:xfrm>
          <a:prstGeom prst="rect">
            <a:avLst/>
          </a:prstGeom>
          <a:solidFill>
            <a:srgbClr val="2DC4B4"/>
          </a:solidFill>
          <a:ln w="9525" cap="flat" cmpd="sng">
            <a:solidFill>
              <a:srgbClr val="2DC4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5166362" y="4992619"/>
            <a:ext cx="21672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DC4B4"/>
                </a:solidFill>
              </a:rPr>
              <a:t>IA para soporte, no automatización total.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8138160" y="4370764"/>
            <a:ext cx="3063300" cy="1874400"/>
          </a:xfrm>
          <a:prstGeom prst="rect">
            <a:avLst/>
          </a:prstGeom>
          <a:solidFill>
            <a:srgbClr val="0B1B2B"/>
          </a:solidFill>
          <a:ln w="9525" cap="flat" cmpd="sng">
            <a:solidFill>
              <a:srgbClr val="F7A65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8138160" y="4370664"/>
            <a:ext cx="63900" cy="1874400"/>
          </a:xfrm>
          <a:prstGeom prst="rect">
            <a:avLst/>
          </a:prstGeom>
          <a:solidFill>
            <a:srgbClr val="F7A65D"/>
          </a:solidFill>
          <a:ln w="9525" cap="flat" cmpd="sng">
            <a:solidFill>
              <a:srgbClr val="F7A65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8669817" y="4942406"/>
            <a:ext cx="2167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7A65D"/>
                </a:solidFill>
              </a:rPr>
              <a:t>Trazabilidad normativa OWASP, CWE, ISO/IEC 27001:2022.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4922674" y="3616213"/>
            <a:ext cx="2747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8FAFC"/>
                </a:solidFill>
              </a:rPr>
              <a:t>Diferenciadores clave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8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/>
          <p:nvPr/>
        </p:nvSpPr>
        <p:spPr>
          <a:xfrm>
            <a:off x="594360" y="292608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7A65D"/>
          </a:solidFill>
          <a:ln w="9525" cap="flat" cmpd="sng">
            <a:solidFill>
              <a:srgbClr val="F7A65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594360" y="35661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2606040" y="310896"/>
            <a:ext cx="896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1B2B"/>
                </a:solidFill>
              </a:rPr>
              <a:t>Arquitectura y flujo operativo</a:t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594350" y="1143000"/>
            <a:ext cx="6629400" cy="5626500"/>
          </a:xfrm>
          <a:prstGeom prst="rect">
            <a:avLst/>
          </a:prstGeom>
          <a:solidFill>
            <a:srgbClr val="112848"/>
          </a:solidFill>
          <a:ln w="9525" cap="flat" cmpd="sng">
            <a:solidFill>
              <a:srgbClr val="1128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960120" y="1874519"/>
            <a:ext cx="5897880" cy="658368"/>
          </a:xfrm>
          <a:prstGeom prst="roundRect">
            <a:avLst>
              <a:gd name="adj" fmla="val 12000"/>
            </a:avLst>
          </a:prstGeom>
          <a:solidFill>
            <a:srgbClr val="0B1B2B"/>
          </a:solidFill>
          <a:ln w="9525" cap="flat" cmpd="sng">
            <a:solidFill>
              <a:srgbClr val="2D4C7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1143000" y="2039100"/>
            <a:ext cx="1188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5B7D6"/>
                </a:solidFill>
              </a:rPr>
              <a:t>ACTIVACIÓN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2354553" y="1970017"/>
            <a:ext cx="4434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8FAFC"/>
                </a:solidFill>
              </a:rPr>
              <a:t>Vía webhook</a:t>
            </a:r>
            <a:endParaRPr sz="1100" dirty="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8FAFC"/>
                </a:solidFill>
              </a:rPr>
              <a:t>o manual (push/PR)</a:t>
            </a:r>
            <a:endParaRPr sz="1100" dirty="0">
              <a:solidFill>
                <a:srgbClr val="F8FAFC"/>
              </a:solidFill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960120" y="2679191"/>
            <a:ext cx="5897880" cy="658368"/>
          </a:xfrm>
          <a:prstGeom prst="roundRect">
            <a:avLst>
              <a:gd name="adj" fmla="val 12000"/>
            </a:avLst>
          </a:prstGeom>
          <a:solidFill>
            <a:srgbClr val="0B1B2B"/>
          </a:solidFill>
          <a:ln w="9525" cap="flat" cmpd="sng">
            <a:solidFill>
              <a:srgbClr val="2D4C7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1143000" y="2843775"/>
            <a:ext cx="1356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5B7D6"/>
                </a:solidFill>
              </a:rPr>
              <a:t>ORQUESTACIÓN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2423165" y="2862064"/>
            <a:ext cx="4434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AFC"/>
                </a:solidFill>
              </a:rPr>
              <a:t>FastAPI valida</a:t>
            </a:r>
            <a:endParaRPr sz="11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AFC"/>
                </a:solidFill>
              </a:rPr>
              <a:t>e inicia escaneo en Redis/ARQ</a:t>
            </a:r>
            <a:endParaRPr sz="1100">
              <a:solidFill>
                <a:srgbClr val="F8FAFC"/>
              </a:solidFill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960120" y="3483863"/>
            <a:ext cx="5897880" cy="658368"/>
          </a:xfrm>
          <a:prstGeom prst="roundRect">
            <a:avLst>
              <a:gd name="adj" fmla="val 12000"/>
            </a:avLst>
          </a:prstGeom>
          <a:solidFill>
            <a:srgbClr val="0B1B2B"/>
          </a:solidFill>
          <a:ln w="9525" cap="flat" cmpd="sng">
            <a:solidFill>
              <a:srgbClr val="2D4C7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1143000" y="3648450"/>
            <a:ext cx="118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5B7D6"/>
                </a:solidFill>
              </a:rPr>
              <a:t>EJECUCIÓN EN PARALELO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2423203" y="3512899"/>
            <a:ext cx="4434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AFC"/>
                </a:solidFill>
              </a:rPr>
              <a:t>Worker Docker</a:t>
            </a:r>
            <a:endParaRPr sz="11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AFC"/>
                </a:solidFill>
              </a:rPr>
              <a:t>clona repositorio</a:t>
            </a:r>
            <a:endParaRPr sz="11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AFC"/>
                </a:solidFill>
              </a:rPr>
              <a:t>y ejecuta Semgrep, Trivy, GItLeaks, OWASP ZAP</a:t>
            </a:r>
            <a:endParaRPr sz="1100">
              <a:solidFill>
                <a:srgbClr val="F8FAFC"/>
              </a:solidFill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960120" y="4288536"/>
            <a:ext cx="5897880" cy="658368"/>
          </a:xfrm>
          <a:prstGeom prst="roundRect">
            <a:avLst>
              <a:gd name="adj" fmla="val 12000"/>
            </a:avLst>
          </a:prstGeom>
          <a:solidFill>
            <a:srgbClr val="0B1B2B"/>
          </a:solidFill>
          <a:ln w="9525" cap="flat" cmpd="sng">
            <a:solidFill>
              <a:srgbClr val="2D4C7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1143000" y="4453125"/>
            <a:ext cx="118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5B7D6"/>
                </a:solidFill>
              </a:rPr>
              <a:t>ANÁLISIS INTELIGENTE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2423203" y="4471408"/>
            <a:ext cx="4434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rgbClr val="F8FAFC"/>
                </a:solidFill>
              </a:rPr>
              <a:t>Normalización y evaluación de hallazgos por agente IA</a:t>
            </a:r>
            <a:endParaRPr sz="11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8FAFC"/>
              </a:solidFill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960120" y="5093207"/>
            <a:ext cx="5897880" cy="658368"/>
          </a:xfrm>
          <a:prstGeom prst="roundRect">
            <a:avLst>
              <a:gd name="adj" fmla="val 12000"/>
            </a:avLst>
          </a:prstGeom>
          <a:solidFill>
            <a:srgbClr val="0B1B2B"/>
          </a:solidFill>
          <a:ln w="9525" cap="flat" cmpd="sng">
            <a:solidFill>
              <a:srgbClr val="2D4C7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1143000" y="5257800"/>
            <a:ext cx="118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5B7D6"/>
                </a:solidFill>
              </a:rPr>
              <a:t>GESTIÓN DE HALLAZGOS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7498074" y="1234450"/>
            <a:ext cx="4589100" cy="21489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7498079" y="1234440"/>
            <a:ext cx="64008" cy="2148840"/>
          </a:xfrm>
          <a:prstGeom prst="rect">
            <a:avLst/>
          </a:prstGeom>
          <a:solidFill>
            <a:srgbClr val="05B7D6"/>
          </a:solidFill>
          <a:ln w="9525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7699248" y="139903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5B7D6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8247886" y="1234457"/>
            <a:ext cx="317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4263A"/>
                </a:solidFill>
                <a:latin typeface="Arial"/>
                <a:ea typeface="Arial"/>
                <a:cs typeface="Arial"/>
                <a:sym typeface="Arial"/>
              </a:rPr>
              <a:t>SSPILLOWY Web Hub</a:t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7498074" y="3611875"/>
            <a:ext cx="4589100" cy="21489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F7A65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7498079" y="3611880"/>
            <a:ext cx="64008" cy="2148840"/>
          </a:xfrm>
          <a:prstGeom prst="rect">
            <a:avLst/>
          </a:prstGeom>
          <a:solidFill>
            <a:srgbClr val="F7A65D"/>
          </a:solidFill>
          <a:ln w="9525" cap="flat" cmpd="sng">
            <a:solidFill>
              <a:srgbClr val="F7A65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7658086" y="3767335"/>
            <a:ext cx="4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7A65D"/>
                </a:solidFill>
              </a:rPr>
              <a:t>A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8211311" y="3776472"/>
            <a:ext cx="31729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4263A"/>
                </a:solidFill>
                <a:latin typeface="Arial"/>
                <a:ea typeface="Arial"/>
                <a:cs typeface="Arial"/>
                <a:sym typeface="Arial"/>
              </a:rPr>
              <a:t>SSPILLOWY Pulse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7635251" y="5961900"/>
            <a:ext cx="4253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B1B2B"/>
                </a:solidFill>
              </a:rPr>
              <a:t>SSPILLOWY automatiza el ciclo completo de detección, análisis y gestión de hallazgos de seguridad.</a:t>
            </a:r>
            <a:endParaRPr/>
          </a:p>
        </p:txBody>
      </p:sp>
      <p:pic>
        <p:nvPicPr>
          <p:cNvPr id="190" name="Google Shape;190;p16"/>
          <p:cNvPicPr preferRelativeResize="0"/>
          <p:nvPr/>
        </p:nvPicPr>
        <p:blipFill rotWithShape="1">
          <a:blip r:embed="rId3">
            <a:alphaModFix/>
          </a:blip>
          <a:srcRect l="4645" r="16627"/>
          <a:stretch/>
        </p:blipFill>
        <p:spPr>
          <a:xfrm>
            <a:off x="8202149" y="1573150"/>
            <a:ext cx="1737375" cy="1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6"/>
          <p:cNvPicPr preferRelativeResize="0"/>
          <p:nvPr/>
        </p:nvPicPr>
        <p:blipFill rotWithShape="1">
          <a:blip r:embed="rId4">
            <a:alphaModFix/>
          </a:blip>
          <a:srcRect l="3803" r="9580"/>
          <a:stretch/>
        </p:blipFill>
        <p:spPr>
          <a:xfrm>
            <a:off x="10025725" y="1573150"/>
            <a:ext cx="200150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6"/>
          <p:cNvSpPr txBox="1"/>
          <p:nvPr/>
        </p:nvSpPr>
        <p:spPr>
          <a:xfrm>
            <a:off x="7658086" y="4229035"/>
            <a:ext cx="4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7A65D"/>
                </a:solidFill>
              </a:rPr>
              <a:t>P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7658086" y="4681735"/>
            <a:ext cx="4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7A65D"/>
                </a:solidFill>
              </a:rPr>
              <a:t>P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960057" y="5897882"/>
            <a:ext cx="5898000" cy="658500"/>
          </a:xfrm>
          <a:prstGeom prst="roundRect">
            <a:avLst>
              <a:gd name="adj" fmla="val 12000"/>
            </a:avLst>
          </a:prstGeom>
          <a:solidFill>
            <a:srgbClr val="0B1B2B"/>
          </a:solidFill>
          <a:ln w="9525" cap="flat" cmpd="sng">
            <a:solidFill>
              <a:srgbClr val="2D4C7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1227150" y="5991450"/>
            <a:ext cx="118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5B7D6"/>
                </a:solidFill>
              </a:rPr>
              <a:t>ACCIONES Y CONTROL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2423203" y="5291596"/>
            <a:ext cx="4434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AFC"/>
                </a:solidFill>
              </a:rPr>
              <a:t>Persitscencia en PostgreSQL con estados (OPEN, FIXED, Verified)</a:t>
            </a:r>
            <a:endParaRPr sz="1100">
              <a:solidFill>
                <a:srgbClr val="F8FAFC"/>
              </a:solidFill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2499903" y="6111783"/>
            <a:ext cx="4434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AFC"/>
                </a:solidFill>
              </a:rPr>
              <a:t>Notificaciones push en hallazgos críticos a Pulse</a:t>
            </a:r>
            <a:endParaRPr sz="11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AFC"/>
                </a:solidFill>
              </a:rPr>
              <a:t>Aprobación en Web Hub y Pulse con firma biométrica</a:t>
            </a:r>
            <a:endParaRPr sz="1100"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B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/>
          <p:nvPr/>
        </p:nvSpPr>
        <p:spPr>
          <a:xfrm>
            <a:off x="594360" y="292608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2DC4B4"/>
          </a:solidFill>
          <a:ln w="9525" cap="flat" cmpd="sng">
            <a:solidFill>
              <a:srgbClr val="2DC4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594360" y="35661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BENEFIT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2606040" y="310896"/>
            <a:ext cx="896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8FAFC"/>
                </a:solidFill>
              </a:rPr>
              <a:t>Herramientas y Tecnologías Clave</a:t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6355080" y="1143000"/>
            <a:ext cx="5166360" cy="1508760"/>
          </a:xfrm>
          <a:prstGeom prst="rect">
            <a:avLst/>
          </a:prstGeom>
          <a:solidFill>
            <a:srgbClr val="0B1B2B"/>
          </a:solidFill>
          <a:ln w="9525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6355080" y="1143000"/>
            <a:ext cx="64008" cy="1508760"/>
          </a:xfrm>
          <a:prstGeom prst="rect">
            <a:avLst/>
          </a:prstGeom>
          <a:solidFill>
            <a:srgbClr val="05B7D6"/>
          </a:solidFill>
          <a:ln w="9525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6725408" y="1307600"/>
            <a:ext cx="1599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5B7D6"/>
                </a:solidFill>
              </a:rPr>
              <a:t>ESCÁNERES</a:t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6355080" y="2880360"/>
            <a:ext cx="5166360" cy="1508760"/>
          </a:xfrm>
          <a:prstGeom prst="rect">
            <a:avLst/>
          </a:prstGeom>
          <a:solidFill>
            <a:srgbClr val="0B1B2B"/>
          </a:solidFill>
          <a:ln w="9525" cap="flat" cmpd="sng">
            <a:solidFill>
              <a:srgbClr val="2DC4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6355080" y="2880360"/>
            <a:ext cx="64008" cy="1508760"/>
          </a:xfrm>
          <a:prstGeom prst="rect">
            <a:avLst/>
          </a:prstGeom>
          <a:solidFill>
            <a:srgbClr val="2DC4B4"/>
          </a:solidFill>
          <a:ln w="9525" cap="flat" cmpd="sng">
            <a:solidFill>
              <a:srgbClr val="2DC4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6725398" y="2962663"/>
            <a:ext cx="327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DC4B4"/>
                </a:solidFill>
              </a:rPr>
              <a:t>CALIDAD Y DEVSECOPS</a:t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6355080" y="4617720"/>
            <a:ext cx="5166300" cy="1508700"/>
          </a:xfrm>
          <a:prstGeom prst="rect">
            <a:avLst/>
          </a:prstGeom>
          <a:solidFill>
            <a:srgbClr val="0B1B2B"/>
          </a:solidFill>
          <a:ln w="9525" cap="flat" cmpd="sng">
            <a:solidFill>
              <a:srgbClr val="F7A65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6355080" y="4617720"/>
            <a:ext cx="64008" cy="1508760"/>
          </a:xfrm>
          <a:prstGeom prst="rect">
            <a:avLst/>
          </a:prstGeom>
          <a:solidFill>
            <a:srgbClr val="F7A65D"/>
          </a:solidFill>
          <a:ln w="9525" cap="flat" cmpd="sng">
            <a:solidFill>
              <a:srgbClr val="F7A65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6725398" y="4818875"/>
            <a:ext cx="4114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7A65D"/>
                </a:solidFill>
              </a:rPr>
              <a:t>INFRAESTRUCTURA Y DEVOPS</a:t>
            </a:r>
            <a:endParaRPr/>
          </a:p>
        </p:txBody>
      </p:sp>
      <p:sp>
        <p:nvSpPr>
          <p:cNvPr id="214" name="Google Shape;214;p17"/>
          <p:cNvSpPr/>
          <p:nvPr/>
        </p:nvSpPr>
        <p:spPr>
          <a:xfrm>
            <a:off x="411480" y="1143020"/>
            <a:ext cx="5166300" cy="1508700"/>
          </a:xfrm>
          <a:prstGeom prst="rect">
            <a:avLst/>
          </a:prstGeom>
          <a:solidFill>
            <a:srgbClr val="0B1B2B"/>
          </a:solidFill>
          <a:ln w="9525" cap="flat" cmpd="sng">
            <a:solidFill>
              <a:srgbClr val="F7A65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411480" y="1143020"/>
            <a:ext cx="63900" cy="1508700"/>
          </a:xfrm>
          <a:prstGeom prst="rect">
            <a:avLst/>
          </a:prstGeom>
          <a:solidFill>
            <a:srgbClr val="F7A65D"/>
          </a:solidFill>
          <a:ln w="9525" cap="flat" cmpd="sng">
            <a:solidFill>
              <a:srgbClr val="F7A65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411480" y="2880398"/>
            <a:ext cx="5166300" cy="1508700"/>
          </a:xfrm>
          <a:prstGeom prst="rect">
            <a:avLst/>
          </a:prstGeom>
          <a:solidFill>
            <a:srgbClr val="0B1B2B"/>
          </a:solidFill>
          <a:ln w="9525" cap="flat" cmpd="sng">
            <a:solidFill>
              <a:srgbClr val="2DC4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411480" y="2880410"/>
            <a:ext cx="63900" cy="1508700"/>
          </a:xfrm>
          <a:prstGeom prst="rect">
            <a:avLst/>
          </a:prstGeom>
          <a:solidFill>
            <a:srgbClr val="2DC4B4"/>
          </a:solidFill>
          <a:ln w="9525" cap="flat" cmpd="sng">
            <a:solidFill>
              <a:srgbClr val="2DC4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411480" y="4617775"/>
            <a:ext cx="5166300" cy="1508700"/>
          </a:xfrm>
          <a:prstGeom prst="rect">
            <a:avLst/>
          </a:prstGeom>
          <a:solidFill>
            <a:srgbClr val="0B1B2B"/>
          </a:solidFill>
          <a:ln w="9525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411480" y="4617775"/>
            <a:ext cx="63900" cy="1508700"/>
          </a:xfrm>
          <a:prstGeom prst="rect">
            <a:avLst/>
          </a:prstGeom>
          <a:solidFill>
            <a:srgbClr val="05B7D6"/>
          </a:solidFill>
          <a:ln w="9525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594358" y="1224875"/>
            <a:ext cx="1364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7A65D"/>
                </a:solidFill>
              </a:rPr>
              <a:t>BACKEND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710939" y="3003588"/>
            <a:ext cx="1504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DC4B4"/>
                </a:solidFill>
              </a:rPr>
              <a:t>FRONTEND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663221" y="4782300"/>
            <a:ext cx="240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5B7D6"/>
                </a:solidFill>
              </a:rPr>
              <a:t>OBSERVABILIDAD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594350" y="1637075"/>
            <a:ext cx="21795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Python 3.12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FastAPI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Pydantic v2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PostgreSQL 16</a:t>
            </a:r>
            <a:endParaRPr sz="1300">
              <a:solidFill>
                <a:srgbClr val="F8FAFC"/>
              </a:solidFill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2685075" y="1558825"/>
            <a:ext cx="21795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Alembic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Redis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ARQ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Docker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OpenAPI/Swagger</a:t>
            </a:r>
            <a:endParaRPr sz="1300">
              <a:solidFill>
                <a:srgbClr val="F8FAFC"/>
              </a:solidFill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6866050" y="1690975"/>
            <a:ext cx="21795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Semgrep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Trivy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GitLeaks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OWASP ZAP</a:t>
            </a:r>
            <a:endParaRPr sz="1300">
              <a:solidFill>
                <a:srgbClr val="F8FAFC"/>
              </a:solidFill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773925" y="3394350"/>
            <a:ext cx="21795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React/Vue con TypeScript (Web Hub)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Flutter/Dart con Riverpod/Bloc (Pulse)</a:t>
            </a:r>
            <a:endParaRPr sz="1300">
              <a:solidFill>
                <a:srgbClr val="F8FAFC"/>
              </a:solidFill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6866050" y="3294288"/>
            <a:ext cx="21795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SonarQube (&gt;80% cobertura)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Pytest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Pytest-Asyncio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 Apache JMMeter</a:t>
            </a:r>
            <a:endParaRPr sz="1300">
              <a:solidFill>
                <a:srgbClr val="F8FAFC"/>
              </a:solidFill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773925" y="5326025"/>
            <a:ext cx="2179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Prometheus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Grafana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Sentry</a:t>
            </a:r>
            <a:endParaRPr sz="1300">
              <a:solidFill>
                <a:srgbClr val="F8FAFC"/>
              </a:solidFill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6866050" y="5326013"/>
            <a:ext cx="2179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Docker y Docker Compose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Railway / Render</a:t>
            </a:r>
            <a:endParaRPr sz="1300">
              <a:solidFill>
                <a:srgbClr val="F8FAF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</a:rPr>
              <a:t>Git y Github</a:t>
            </a:r>
            <a:endParaRPr sz="1300"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8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/>
          <p:nvPr/>
        </p:nvSpPr>
        <p:spPr>
          <a:xfrm>
            <a:off x="594360" y="292608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B1B2B"/>
          </a:solidFill>
          <a:ln w="9525" cap="flat" cmpd="sng">
            <a:solidFill>
              <a:srgbClr val="0B1B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594360" y="35661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COMPETITION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2606040" y="310896"/>
            <a:ext cx="896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¿Por qué SSPILLOWY es una solución </a:t>
            </a:r>
            <a:r>
              <a:rPr lang="en-US" sz="2400" b="1">
                <a:solidFill>
                  <a:srgbClr val="0B1B2B"/>
                </a:solidFill>
              </a:rPr>
              <a:t>correcta</a:t>
            </a:r>
            <a:r>
              <a:rPr lang="en-US" sz="2400" b="1" i="0" u="none" strike="noStrike" cap="none">
                <a:solidFill>
                  <a:srgbClr val="0B1B2B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594360" y="5285232"/>
            <a:ext cx="10972800" cy="685800"/>
          </a:xfrm>
          <a:prstGeom prst="rect">
            <a:avLst/>
          </a:prstGeom>
          <a:solidFill>
            <a:srgbClr val="05B7D6"/>
          </a:solidFill>
          <a:ln w="9525" cap="flat" cmpd="sng">
            <a:solidFill>
              <a:srgbClr val="05B7D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822960" y="5468112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B1B2B"/>
                </a:solidFill>
                <a:latin typeface="Arial"/>
              </a:rPr>
              <a:t>La diferencia no es solo detectar más: es decidir más rápido, con trazabilidad completa y sin perder el control humano.</a:t>
            </a:r>
            <a:endParaRPr/>
          </a:p>
        </p:txBody>
      </p:sp>
      <p:sp>
        <p:nvSpPr>
          <p:cNvPr id="239" name="Rounded Rectangle 238"/>
          <p:cNvSpPr/>
          <p:nvPr/>
        </p:nvSpPr>
        <p:spPr>
          <a:xfrm>
            <a:off x="594360" y="964000"/>
            <a:ext cx="11003280" cy="4180000"/>
          </a:xfrm>
          <a:prstGeom prst="roundRect">
            <a:avLst>
              <a:gd name="adj" fmla="val 3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854360" y="1050000"/>
            <a:ext cx="948328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Frente al enfoque tradicional del mercado</a:t>
            </a:r>
          </a:p>
        </p:txBody>
      </p:sp>
      <p:graphicFrame>
        <p:nvGraphicFramePr>
          <p:cNvPr id="241" name="Table 240"/>
          <p:cNvGraphicFramePr>
            <a:graphicFrameLocks noGrp="1"/>
          </p:cNvGraphicFramePr>
          <p:nvPr/>
        </p:nvGraphicFramePr>
        <p:xfrm>
          <a:off x="854360" y="1460000"/>
          <a:ext cx="10483280" cy="3310000"/>
        </p:xfrm>
        <a:graphic>
          <a:graphicData uri="http://schemas.openxmlformats.org/drawingml/2006/table">
            <a:tbl>
              <a:tblPr/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Arial"/>
                        </a:rPr>
                        <a:t>Criterio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Arial"/>
                        </a:rPr>
                        <a:t>Enfoque tradicional del mercado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Arial"/>
                        </a:rPr>
                        <a:t>SSPILLOWY</a:t>
                      </a:r>
                    </a:p>
                  </a:txBody>
                  <a:tcPr anchor="ctr">
                    <a:solidFill>
                      <a:srgbClr val="05B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Cobertura de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escaneo</a:t>
                      </a:r>
                    </a:p>
                  </a:txBody>
                  <a:tcPr anchor="ctr">
                    <a:solidFill>
                      <a:srgbClr val="14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8C4D0"/>
                          </a:solidFill>
                          <a:latin typeface="Arial"/>
                        </a:rPr>
                        <a:t>Snyk, GitHub Advanced Security o GitLab Ultimate cubren SAST/SCA, pero secretos y DAST suelen quedar en herramientas aparte</a:t>
                      </a:r>
                    </a:p>
                  </a:txBody>
                  <a:tcPr anchor="ctr"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SAST + SCA/IaC + secretos + DAST integrados en un solo flujo (Semgrep, Trivy, GitLeaks, ZAP)</a:t>
                      </a:r>
                    </a:p>
                  </a:txBody>
                  <a:tcPr anchor="ctr">
                    <a:solidFill>
                      <a:srgbClr val="0E3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 de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la IA</a:t>
                      </a:r>
                    </a:p>
                  </a:txBody>
                  <a:tcPr anchor="ctr">
                    <a:solidFill>
                      <a:srgbClr val="14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8C4D0"/>
                          </a:solidFill>
                          <a:latin typeface="Arial"/>
                        </a:rPr>
                        <a:t>Motores con IA que auto-clasifican o auto-cierran hallazgos sin mucha trazabilidad</a:t>
                      </a:r>
                    </a:p>
                  </a:txBody>
                  <a:tcPr anchor="ctr"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IA de triaje human-in-the-loop: nunca auto-cierra, siempre requiere validación humana</a:t>
                      </a:r>
                    </a:p>
                  </a:txBody>
                  <a:tcPr anchor="ctr">
                    <a:solidFill>
                      <a:srgbClr val="0E3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Trazabilidad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normativa</a:t>
                      </a:r>
                    </a:p>
                  </a:txBody>
                  <a:tcPr anchor="ctr">
                    <a:solidFill>
                      <a:srgbClr val="14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8C4D0"/>
                          </a:solidFill>
                          <a:latin typeface="Arial"/>
                        </a:rPr>
                        <a:t>El mapeo a OWASP/CWE suele ser un módulo adicional y de pago</a:t>
                      </a:r>
                    </a:p>
                  </a:txBody>
                  <a:tcPr anchor="ctr"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Trazabilidad nativa a OWASP Top 10, CWE e ISO/IEC 27001:2022 desde el diseño</a:t>
                      </a:r>
                    </a:p>
                  </a:txBody>
                  <a:tcPr anchor="ctr">
                    <a:solidFill>
                      <a:srgbClr val="0E3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Respuesta a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incidentes</a:t>
                      </a:r>
                    </a:p>
                  </a:txBody>
                  <a:tcPr anchor="ctr">
                    <a:solidFill>
                      <a:srgbClr val="14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8C4D0"/>
                          </a:solidFill>
                          <a:latin typeface="Arial"/>
                        </a:rPr>
                        <a:t>Limitada a dashboards web: hay que abrir el computador para decidir</a:t>
                      </a:r>
                    </a:p>
                  </a:txBody>
                  <a:tcPr anchor="ctr"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SSPILLOWY Pulse: aprobación de excepciones desde el celular con biometría y push</a:t>
                      </a:r>
                    </a:p>
                  </a:txBody>
                  <a:tcPr anchor="ctr">
                    <a:solidFill>
                      <a:srgbClr val="0E3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B"/>
        </a:solid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E481F50-4B2B-F30C-700D-186D54083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>
            <a:extLst>
              <a:ext uri="{FF2B5EF4-FFF2-40B4-BE49-F238E27FC236}">
                <a16:creationId xmlns:a16="http://schemas.microsoft.com/office/drawing/2014/main" id="{12437198-A648-7AD7-4A71-6C1DD0D7E2D4}"/>
              </a:ext>
            </a:extLst>
          </p:cNvPr>
          <p:cNvSpPr/>
          <p:nvPr/>
        </p:nvSpPr>
        <p:spPr>
          <a:xfrm>
            <a:off x="594360" y="292608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2DC4B4"/>
          </a:solidFill>
          <a:ln w="9525" cap="flat" cmpd="sng">
            <a:solidFill>
              <a:srgbClr val="2DC4B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>
            <a:extLst>
              <a:ext uri="{FF2B5EF4-FFF2-40B4-BE49-F238E27FC236}">
                <a16:creationId xmlns:a16="http://schemas.microsoft.com/office/drawing/2014/main" id="{B076EB5E-1BAE-4BCE-AA21-407E42501E0A}"/>
              </a:ext>
            </a:extLst>
          </p:cNvPr>
          <p:cNvSpPr txBox="1"/>
          <p:nvPr/>
        </p:nvSpPr>
        <p:spPr>
          <a:xfrm>
            <a:off x="594360" y="35661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BENEFIT</a:t>
            </a:r>
            <a:endParaRPr/>
          </a:p>
        </p:txBody>
      </p:sp>
      <p:sp>
        <p:nvSpPr>
          <p:cNvPr id="204" name="Google Shape;204;p17">
            <a:extLst>
              <a:ext uri="{FF2B5EF4-FFF2-40B4-BE49-F238E27FC236}">
                <a16:creationId xmlns:a16="http://schemas.microsoft.com/office/drawing/2014/main" id="{C9790950-A798-75BA-9E0B-5A9629D52091}"/>
              </a:ext>
            </a:extLst>
          </p:cNvPr>
          <p:cNvSpPr txBox="1"/>
          <p:nvPr/>
        </p:nvSpPr>
        <p:spPr>
          <a:xfrm>
            <a:off x="2636640" y="315396"/>
            <a:ext cx="896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8FAFC"/>
                </a:solidFill>
              </a:rPr>
              <a:t>Mockup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2AD097-A78E-0FC5-55AA-027F1EF04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23667"/>
            <a:ext cx="9573768" cy="449133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E77132E-8AE8-4040-2BFF-C7DF127D52CD}"/>
              </a:ext>
            </a:extLst>
          </p:cNvPr>
          <p:cNvSpPr/>
          <p:nvPr/>
        </p:nvSpPr>
        <p:spPr>
          <a:xfrm>
            <a:off x="594360" y="1223667"/>
            <a:ext cx="1357885" cy="4491333"/>
          </a:xfrm>
          <a:prstGeom prst="rect">
            <a:avLst/>
          </a:prstGeom>
          <a:solidFill>
            <a:srgbClr val="0B1B2B"/>
          </a:solidFill>
          <a:ln>
            <a:noFill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11" name="Google Shape;211;p17">
            <a:extLst>
              <a:ext uri="{FF2B5EF4-FFF2-40B4-BE49-F238E27FC236}">
                <a16:creationId xmlns:a16="http://schemas.microsoft.com/office/drawing/2014/main" id="{25EAA3ED-EAFA-3A9F-8ECD-260EF9A0615F}"/>
              </a:ext>
            </a:extLst>
          </p:cNvPr>
          <p:cNvSpPr/>
          <p:nvPr/>
        </p:nvSpPr>
        <p:spPr>
          <a:xfrm>
            <a:off x="1732535" y="1143000"/>
            <a:ext cx="8655304" cy="4761068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7A65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3874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8"/>
        </a:solidFill>
        <a:effectLst/>
      </p:bgPr>
    </p:bg>
    <p:spTree>
      <p:nvGrpSpPr>
        <p:cNvPr id="1" name="Shape 233">
          <a:extLst>
            <a:ext uri="{FF2B5EF4-FFF2-40B4-BE49-F238E27FC236}">
              <a16:creationId xmlns:a16="http://schemas.microsoft.com/office/drawing/2014/main" id="{7739FF26-F64F-5582-B953-D543823C8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>
            <a:extLst>
              <a:ext uri="{FF2B5EF4-FFF2-40B4-BE49-F238E27FC236}">
                <a16:creationId xmlns:a16="http://schemas.microsoft.com/office/drawing/2014/main" id="{669B0F56-5B1C-E5FF-F1AB-34DF4C1343DE}"/>
              </a:ext>
            </a:extLst>
          </p:cNvPr>
          <p:cNvSpPr/>
          <p:nvPr/>
        </p:nvSpPr>
        <p:spPr>
          <a:xfrm>
            <a:off x="3822192" y="283464"/>
            <a:ext cx="3794760" cy="557784"/>
          </a:xfrm>
          <a:prstGeom prst="roundRect">
            <a:avLst>
              <a:gd name="adj" fmla="val 12000"/>
            </a:avLst>
          </a:prstGeom>
          <a:solidFill>
            <a:srgbClr val="0B1B2B"/>
          </a:solidFill>
          <a:ln w="9525" cap="flat" cmpd="sng">
            <a:solidFill>
              <a:srgbClr val="0B1B2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>
            <a:extLst>
              <a:ext uri="{FF2B5EF4-FFF2-40B4-BE49-F238E27FC236}">
                <a16:creationId xmlns:a16="http://schemas.microsoft.com/office/drawing/2014/main" id="{63612CC8-D7DF-6E68-CB35-73C94325DE91}"/>
              </a:ext>
            </a:extLst>
          </p:cNvPr>
          <p:cNvSpPr txBox="1"/>
          <p:nvPr/>
        </p:nvSpPr>
        <p:spPr>
          <a:xfrm>
            <a:off x="3822192" y="347472"/>
            <a:ext cx="379476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2000" dirty="0"/>
          </a:p>
        </p:txBody>
      </p:sp>
      <p:sp>
        <p:nvSpPr>
          <p:cNvPr id="239" name="Rounded Rectangle 238">
            <a:extLst>
              <a:ext uri="{FF2B5EF4-FFF2-40B4-BE49-F238E27FC236}">
                <a16:creationId xmlns:a16="http://schemas.microsoft.com/office/drawing/2014/main" id="{D23F333C-489F-453F-48C9-50A5A83A42C8}"/>
              </a:ext>
            </a:extLst>
          </p:cNvPr>
          <p:cNvSpPr/>
          <p:nvPr/>
        </p:nvSpPr>
        <p:spPr>
          <a:xfrm>
            <a:off x="594360" y="964000"/>
            <a:ext cx="11003280" cy="5235632"/>
          </a:xfrm>
          <a:prstGeom prst="roundRect">
            <a:avLst>
              <a:gd name="adj" fmla="val 3000"/>
            </a:avLst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4A6F433-4EBA-8337-9D86-0619434B46ED}"/>
              </a:ext>
            </a:extLst>
          </p:cNvPr>
          <p:cNvSpPr txBox="1"/>
          <p:nvPr/>
        </p:nvSpPr>
        <p:spPr>
          <a:xfrm>
            <a:off x="1033272" y="2509528"/>
            <a:ext cx="298094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solidFill>
                  <a:srgbClr val="F8FAFC"/>
                </a:solidFill>
              </a:rPr>
              <a:t>Con este programa lograremos que las decisiones que requieran acción rápida y precisas sean algo mas simple que algo que tomaría días en resolver</a:t>
            </a:r>
          </a:p>
        </p:txBody>
      </p:sp>
      <p:pic>
        <p:nvPicPr>
          <p:cNvPr id="10" name="Imagen 9" descr="Ingeniería en Informática - Instituto Profesional Santo Tomás">
            <a:extLst>
              <a:ext uri="{FF2B5EF4-FFF2-40B4-BE49-F238E27FC236}">
                <a16:creationId xmlns:a16="http://schemas.microsoft.com/office/drawing/2014/main" id="{E90EC7E1-CB88-3925-6712-D1FFA1460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858" y="1563803"/>
            <a:ext cx="6677406" cy="373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300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590</Words>
  <Application>Microsoft Office PowerPoint</Application>
  <PresentationFormat>Panorámica</PresentationFormat>
  <Paragraphs>125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Benjamin</dc:creator>
  <cp:lastModifiedBy>benjamin hernandez alarcon</cp:lastModifiedBy>
  <cp:revision>2</cp:revision>
  <dcterms:modified xsi:type="dcterms:W3CDTF">2026-09-03T23:40:46Z</dcterms:modified>
</cp:coreProperties>
</file>