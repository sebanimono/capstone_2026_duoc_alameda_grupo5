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1"/>
    </p:embeddedFont>
    <p:embeddedFont>
      <p:font typeface="IBM Plex Mono" charset="1" panose="020B050905020300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8111F">
                    <a:alpha val="100000"/>
                  </a:srgbClr>
                </a:gs>
                <a:gs pos="100000">
                  <a:srgbClr val="08111F">
                    <a:alpha val="12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962025"/>
            <a:ext cx="5715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" b="true">
                <a:solidFill>
                  <a:srgbClr val="24D6C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PTY4614 · CAPSTONE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1981200"/>
            <a:ext cx="9906000" cy="275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7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Avances del</a:t>
            </a:r>
          </a:p>
          <a:p>
            <a:pPr algn="l">
              <a:lnSpc>
                <a:spcPts val="7191"/>
              </a:lnSpc>
            </a:pPr>
            <a:r>
              <a:rPr lang="en-US" sz="7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APT</a:t>
            </a:r>
          </a:p>
          <a:p>
            <a:pPr algn="l">
              <a:lnSpc>
                <a:spcPts val="7191"/>
              </a:lnSpc>
            </a:pPr>
            <a:r>
              <a:rPr lang="en-US" sz="7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SSPILLOWY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172075"/>
            <a:ext cx="75247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C9D8E2"/>
                </a:solidFill>
                <a:latin typeface="Open Sans"/>
                <a:ea typeface="Open Sans"/>
                <a:cs typeface="Open Sans"/>
                <a:sym typeface="Open Sans"/>
              </a:rPr>
              <a:t>Plataforma de análisis y gestión de ciberseguridad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7896225"/>
            <a:ext cx="8572500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Sebastián Tralma · Pilar Valencia · Benjamín Hernández</a:t>
            </a: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Octubre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615238"/>
            <a:ext cx="8572500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Profesor: Carlos herrera machuca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visión integral, en un solo lugar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8048625"/>
            <a:ext cx="6191250" cy="857250"/>
            <a:chOff x="0" y="0"/>
            <a:chExt cx="8255000" cy="114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55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24D6C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55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667750" y="2333625"/>
            <a:ext cx="8572500" cy="6572250"/>
          </a:xfrm>
          <a:custGeom>
            <a:avLst/>
            <a:gdLst/>
            <a:ahLst/>
            <a:cxnLst/>
            <a:rect r="r" b="b" t="t" l="l"/>
            <a:pathLst>
              <a:path h="6572250" w="8572500">
                <a:moveTo>
                  <a:pt x="0" y="0"/>
                </a:moveTo>
                <a:lnTo>
                  <a:pt x="8572500" y="0"/>
                </a:lnTo>
                <a:lnTo>
                  <a:pt x="85725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" t="0" r="-27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47750" y="2352675"/>
            <a:ext cx="619125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" b="true">
                <a:solidFill>
                  <a:srgbClr val="3B82F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sspillowy.com · OPERATIVA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3248025"/>
            <a:ext cx="6477000" cy="175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925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Desarrolladores y equipos de seguridad necesitan correlacionar hallazgos dispersos y actuar con contexto.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6153150"/>
            <a:ext cx="6477000" cy="100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SSPILLOWY reúne múltiples motores de análisis y asistencia IA para convertir señales técnicas en decisiones trazables.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que convergen</a:t>
            </a:r>
          </a:p>
        </p:txBody>
      </p:sp>
      <p:sp>
        <p:nvSpPr>
          <p:cNvPr name="AutoShape 3" id="3"/>
          <p:cNvSpPr/>
          <p:nvPr/>
        </p:nvSpPr>
        <p:spPr>
          <a:xfrm>
            <a:off x="4953000" y="3143250"/>
            <a:ext cx="1619250" cy="952500"/>
          </a:xfrm>
          <a:prstGeom prst="line">
            <a:avLst/>
          </a:prstGeom>
          <a:ln cap="rnd" w="38100">
            <a:solidFill>
              <a:srgbClr val="CBD7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4953000" y="5048250"/>
            <a:ext cx="1619250" cy="1762125"/>
          </a:xfrm>
          <a:prstGeom prst="line">
            <a:avLst/>
          </a:prstGeom>
          <a:ln cap="rnd" w="38100">
            <a:solidFill>
              <a:srgbClr val="CBD7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1715750" y="3143250"/>
            <a:ext cx="1619250" cy="952500"/>
          </a:xfrm>
          <a:prstGeom prst="line">
            <a:avLst/>
          </a:prstGeom>
          <a:ln cap="rnd" w="38100">
            <a:solidFill>
              <a:srgbClr val="CBD7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1715750" y="5048250"/>
            <a:ext cx="1619250" cy="1762125"/>
          </a:xfrm>
          <a:prstGeom prst="line">
            <a:avLst/>
          </a:prstGeom>
          <a:ln cap="rnd" w="38100">
            <a:solidFill>
              <a:srgbClr val="CBD7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572250" y="3571875"/>
            <a:ext cx="5143500" cy="2000250"/>
            <a:chOff x="0" y="0"/>
            <a:chExt cx="6858000" cy="266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858000">
                  <a:moveTo>
                    <a:pt x="37630" y="0"/>
                  </a:moveTo>
                  <a:lnTo>
                    <a:pt x="6820371" y="0"/>
                  </a:lnTo>
                  <a:cubicBezTo>
                    <a:pt x="6830351" y="0"/>
                    <a:pt x="6839921" y="3965"/>
                    <a:pt x="6846978" y="11021"/>
                  </a:cubicBezTo>
                  <a:cubicBezTo>
                    <a:pt x="6854035" y="18078"/>
                    <a:pt x="6858000" y="27650"/>
                    <a:pt x="6858000" y="37630"/>
                  </a:cubicBezTo>
                  <a:lnTo>
                    <a:pt x="6858000" y="2629370"/>
                  </a:lnTo>
                  <a:cubicBezTo>
                    <a:pt x="6858000" y="2639350"/>
                    <a:pt x="6854035" y="2648922"/>
                    <a:pt x="6846978" y="2655979"/>
                  </a:cubicBezTo>
                  <a:cubicBezTo>
                    <a:pt x="6839921" y="2663036"/>
                    <a:pt x="6830351" y="2667000"/>
                    <a:pt x="6820371" y="2667000"/>
                  </a:cubicBezTo>
                  <a:lnTo>
                    <a:pt x="37630" y="2667000"/>
                  </a:lnTo>
                  <a:cubicBezTo>
                    <a:pt x="27650" y="2667000"/>
                    <a:pt x="18078" y="2663036"/>
                    <a:pt x="11021" y="2655979"/>
                  </a:cubicBezTo>
                  <a:cubicBezTo>
                    <a:pt x="3965" y="2648922"/>
                    <a:pt x="0" y="2639350"/>
                    <a:pt x="0" y="2629370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08111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6858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OBJETIVO GENERAL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Analizar y gestionar riesgos de ciberseguridad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2524125"/>
            <a:ext cx="4000500" cy="1238250"/>
            <a:chOff x="0" y="0"/>
            <a:chExt cx="5334000" cy="165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334000">
                  <a:moveTo>
                    <a:pt x="48381" y="0"/>
                  </a:moveTo>
                  <a:lnTo>
                    <a:pt x="5285619" y="0"/>
                  </a:lnTo>
                  <a:cubicBezTo>
                    <a:pt x="5312339" y="0"/>
                    <a:pt x="5334000" y="21661"/>
                    <a:pt x="5334000" y="48381"/>
                  </a:cubicBezTo>
                  <a:lnTo>
                    <a:pt x="5334000" y="1602619"/>
                  </a:lnTo>
                  <a:cubicBezTo>
                    <a:pt x="5334000" y="1629339"/>
                    <a:pt x="5312339" y="1651000"/>
                    <a:pt x="5285619" y="1651000"/>
                  </a:cubicBezTo>
                  <a:lnTo>
                    <a:pt x="48381" y="1651000"/>
                  </a:lnTo>
                  <a:cubicBezTo>
                    <a:pt x="21661" y="1651000"/>
                    <a:pt x="0" y="1629339"/>
                    <a:pt x="0" y="1602619"/>
                  </a:cubicBezTo>
                  <a:lnTo>
                    <a:pt x="0" y="48381"/>
                  </a:lnTo>
                  <a:cubicBezTo>
                    <a:pt x="0" y="21661"/>
                    <a:pt x="21661" y="0"/>
                    <a:pt x="48381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5334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Arquitectura backend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API REST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6191250"/>
            <a:ext cx="4000500" cy="1238250"/>
            <a:chOff x="0" y="0"/>
            <a:chExt cx="5334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334000">
                  <a:moveTo>
                    <a:pt x="48381" y="0"/>
                  </a:moveTo>
                  <a:lnTo>
                    <a:pt x="5285619" y="0"/>
                  </a:lnTo>
                  <a:cubicBezTo>
                    <a:pt x="5312339" y="0"/>
                    <a:pt x="5334000" y="21661"/>
                    <a:pt x="5334000" y="48381"/>
                  </a:cubicBezTo>
                  <a:lnTo>
                    <a:pt x="5334000" y="1602619"/>
                  </a:lnTo>
                  <a:cubicBezTo>
                    <a:pt x="5334000" y="1629339"/>
                    <a:pt x="5312339" y="1651000"/>
                    <a:pt x="5285619" y="1651000"/>
                  </a:cubicBezTo>
                  <a:lnTo>
                    <a:pt x="48381" y="1651000"/>
                  </a:lnTo>
                  <a:cubicBezTo>
                    <a:pt x="21661" y="1651000"/>
                    <a:pt x="0" y="1629339"/>
                    <a:pt x="0" y="1602619"/>
                  </a:cubicBezTo>
                  <a:lnTo>
                    <a:pt x="0" y="48381"/>
                  </a:lnTo>
                  <a:cubicBezTo>
                    <a:pt x="0" y="21661"/>
                    <a:pt x="21661" y="0"/>
                    <a:pt x="48381" y="0"/>
                  </a:cubicBezTo>
                  <a:close/>
                </a:path>
              </a:pathLst>
            </a:custGeom>
            <a:solidFill>
              <a:srgbClr val="24D6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5334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Motores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SAST · SCA · Secrets · DAST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35000" y="2524125"/>
            <a:ext cx="4000500" cy="1238250"/>
            <a:chOff x="0" y="0"/>
            <a:chExt cx="5334000" cy="165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334000">
                  <a:moveTo>
                    <a:pt x="48381" y="0"/>
                  </a:moveTo>
                  <a:lnTo>
                    <a:pt x="5285619" y="0"/>
                  </a:lnTo>
                  <a:cubicBezTo>
                    <a:pt x="5312339" y="0"/>
                    <a:pt x="5334000" y="21661"/>
                    <a:pt x="5334000" y="48381"/>
                  </a:cubicBezTo>
                  <a:lnTo>
                    <a:pt x="5334000" y="1602619"/>
                  </a:lnTo>
                  <a:cubicBezTo>
                    <a:pt x="5334000" y="1629339"/>
                    <a:pt x="5312339" y="1651000"/>
                    <a:pt x="5285619" y="1651000"/>
                  </a:cubicBezTo>
                  <a:lnTo>
                    <a:pt x="48381" y="1651000"/>
                  </a:lnTo>
                  <a:cubicBezTo>
                    <a:pt x="21661" y="1651000"/>
                    <a:pt x="0" y="1629339"/>
                    <a:pt x="0" y="1602619"/>
                  </a:cubicBezTo>
                  <a:lnTo>
                    <a:pt x="0" y="48381"/>
                  </a:lnTo>
                  <a:cubicBezTo>
                    <a:pt x="0" y="21661"/>
                    <a:pt x="21661" y="0"/>
                    <a:pt x="48381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5334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Asistente IA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Pillow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35000" y="6191250"/>
            <a:ext cx="4000500" cy="1238250"/>
            <a:chOff x="0" y="0"/>
            <a:chExt cx="5334000" cy="165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334000">
                  <a:moveTo>
                    <a:pt x="48381" y="0"/>
                  </a:moveTo>
                  <a:lnTo>
                    <a:pt x="5285619" y="0"/>
                  </a:lnTo>
                  <a:cubicBezTo>
                    <a:pt x="5312339" y="0"/>
                    <a:pt x="5334000" y="21661"/>
                    <a:pt x="5334000" y="48381"/>
                  </a:cubicBezTo>
                  <a:lnTo>
                    <a:pt x="5334000" y="1602619"/>
                  </a:lnTo>
                  <a:cubicBezTo>
                    <a:pt x="5334000" y="1629339"/>
                    <a:pt x="5312339" y="1651000"/>
                    <a:pt x="5285619" y="1651000"/>
                  </a:cubicBezTo>
                  <a:lnTo>
                    <a:pt x="48381" y="1651000"/>
                  </a:lnTo>
                  <a:cubicBezTo>
                    <a:pt x="21661" y="1651000"/>
                    <a:pt x="0" y="1629339"/>
                    <a:pt x="0" y="1602619"/>
                  </a:cubicBezTo>
                  <a:lnTo>
                    <a:pt x="0" y="48381"/>
                  </a:lnTo>
                  <a:cubicBezTo>
                    <a:pt x="0" y="21661"/>
                    <a:pt x="21661" y="0"/>
                    <a:pt x="48381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5334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Consola web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normativas ampliadas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plataforma. Cuatro motores. Un asistente.</a:t>
            </a:r>
          </a:p>
        </p:txBody>
      </p:sp>
      <p:sp>
        <p:nvSpPr>
          <p:cNvPr name="AutoShape 3" id="3"/>
          <p:cNvSpPr/>
          <p:nvPr/>
        </p:nvSpPr>
        <p:spPr>
          <a:xfrm>
            <a:off x="3429000" y="4857750"/>
            <a:ext cx="666750" cy="0"/>
          </a:xfrm>
          <a:prstGeom prst="line">
            <a:avLst/>
          </a:prstGeom>
          <a:ln cap="rnd" w="47625">
            <a:solidFill>
              <a:srgbClr val="4662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47750" y="4095750"/>
            <a:ext cx="2381250" cy="1524000"/>
            <a:chOff x="0" y="0"/>
            <a:chExt cx="3175000" cy="203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950720"/>
                  </a:lnTo>
                  <a:cubicBezTo>
                    <a:pt x="3175000" y="1972277"/>
                    <a:pt x="3166437" y="1992951"/>
                    <a:pt x="3151194" y="2008194"/>
                  </a:cubicBezTo>
                  <a:cubicBezTo>
                    <a:pt x="3135951" y="2023437"/>
                    <a:pt x="3115277" y="2032000"/>
                    <a:pt x="3093720" y="2032000"/>
                  </a:cubicBezTo>
                  <a:lnTo>
                    <a:pt x="81280" y="2032000"/>
                  </a:lnTo>
                  <a:cubicBezTo>
                    <a:pt x="59723" y="2032000"/>
                    <a:pt x="39049" y="2023437"/>
                    <a:pt x="23806" y="2008194"/>
                  </a:cubicBezTo>
                  <a:cubicBezTo>
                    <a:pt x="8563" y="1992951"/>
                    <a:pt x="0" y="1972277"/>
                    <a:pt x="0" y="1950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175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Consola web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TypeScript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6477000" y="4857750"/>
            <a:ext cx="666750" cy="0"/>
          </a:xfrm>
          <a:prstGeom prst="line">
            <a:avLst/>
          </a:prstGeom>
          <a:ln cap="rnd" w="47625">
            <a:solidFill>
              <a:srgbClr val="4662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095750" y="4095750"/>
            <a:ext cx="2381250" cy="1524000"/>
            <a:chOff x="0" y="0"/>
            <a:chExt cx="3175000" cy="203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950720"/>
                  </a:lnTo>
                  <a:cubicBezTo>
                    <a:pt x="3175000" y="1972277"/>
                    <a:pt x="3166437" y="1992951"/>
                    <a:pt x="3151194" y="2008194"/>
                  </a:cubicBezTo>
                  <a:cubicBezTo>
                    <a:pt x="3135951" y="2023437"/>
                    <a:pt x="3115277" y="2032000"/>
                    <a:pt x="3093720" y="2032000"/>
                  </a:cubicBezTo>
                  <a:lnTo>
                    <a:pt x="81280" y="2032000"/>
                  </a:lnTo>
                  <a:cubicBezTo>
                    <a:pt x="59723" y="2032000"/>
                    <a:pt x="39049" y="2023437"/>
                    <a:pt x="23806" y="2008194"/>
                  </a:cubicBezTo>
                  <a:cubicBezTo>
                    <a:pt x="8563" y="1992951"/>
                    <a:pt x="0" y="1972277"/>
                    <a:pt x="0" y="1950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24D6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175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 REST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orquestación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9525000" y="4857750"/>
            <a:ext cx="666750" cy="0"/>
          </a:xfrm>
          <a:prstGeom prst="line">
            <a:avLst/>
          </a:prstGeom>
          <a:ln cap="rnd" w="47625">
            <a:solidFill>
              <a:srgbClr val="4662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143750" y="4095750"/>
            <a:ext cx="2381250" cy="1524000"/>
            <a:chOff x="0" y="0"/>
            <a:chExt cx="3175000" cy="203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950720"/>
                  </a:lnTo>
                  <a:cubicBezTo>
                    <a:pt x="3175000" y="1972277"/>
                    <a:pt x="3166437" y="1992951"/>
                    <a:pt x="3151194" y="2008194"/>
                  </a:cubicBezTo>
                  <a:cubicBezTo>
                    <a:pt x="3135951" y="2023437"/>
                    <a:pt x="3115277" y="2032000"/>
                    <a:pt x="3093720" y="2032000"/>
                  </a:cubicBezTo>
                  <a:lnTo>
                    <a:pt x="81280" y="2032000"/>
                  </a:lnTo>
                  <a:cubicBezTo>
                    <a:pt x="59723" y="2032000"/>
                    <a:pt x="39049" y="2023437"/>
                    <a:pt x="23806" y="2008194"/>
                  </a:cubicBezTo>
                  <a:cubicBezTo>
                    <a:pt x="8563" y="1992951"/>
                    <a:pt x="0" y="1972277"/>
                    <a:pt x="0" y="1950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175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motores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 detección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573000" y="4857750"/>
            <a:ext cx="666750" cy="0"/>
          </a:xfrm>
          <a:prstGeom prst="line">
            <a:avLst/>
          </a:prstGeom>
          <a:ln cap="rnd" w="47625">
            <a:solidFill>
              <a:srgbClr val="4662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191750" y="4095750"/>
            <a:ext cx="2381250" cy="1524000"/>
            <a:chOff x="0" y="0"/>
            <a:chExt cx="3175000" cy="203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950720"/>
                  </a:lnTo>
                  <a:cubicBezTo>
                    <a:pt x="3175000" y="1972277"/>
                    <a:pt x="3166437" y="1992951"/>
                    <a:pt x="3151194" y="2008194"/>
                  </a:cubicBezTo>
                  <a:cubicBezTo>
                    <a:pt x="3135951" y="2023437"/>
                    <a:pt x="3115277" y="2032000"/>
                    <a:pt x="3093720" y="2032000"/>
                  </a:cubicBezTo>
                  <a:lnTo>
                    <a:pt x="81280" y="2032000"/>
                  </a:lnTo>
                  <a:cubicBezTo>
                    <a:pt x="59723" y="2032000"/>
                    <a:pt x="39049" y="2023437"/>
                    <a:pt x="23806" y="2008194"/>
                  </a:cubicBezTo>
                  <a:cubicBezTo>
                    <a:pt x="8563" y="1992951"/>
                    <a:pt x="0" y="1972277"/>
                    <a:pt x="0" y="1950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24D6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175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Pillow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asistente 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39750" y="4095750"/>
            <a:ext cx="2381250" cy="1524000"/>
            <a:chOff x="0" y="0"/>
            <a:chExt cx="3175000" cy="203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950720"/>
                  </a:lnTo>
                  <a:cubicBezTo>
                    <a:pt x="3175000" y="1972277"/>
                    <a:pt x="3166437" y="1992951"/>
                    <a:pt x="3151194" y="2008194"/>
                  </a:cubicBezTo>
                  <a:cubicBezTo>
                    <a:pt x="3135951" y="2023437"/>
                    <a:pt x="3115277" y="2032000"/>
                    <a:pt x="3093720" y="2032000"/>
                  </a:cubicBezTo>
                  <a:lnTo>
                    <a:pt x="81280" y="2032000"/>
                  </a:lnTo>
                  <a:cubicBezTo>
                    <a:pt x="59723" y="2032000"/>
                    <a:pt x="39049" y="2023437"/>
                    <a:pt x="23806" y="2008194"/>
                  </a:cubicBezTo>
                  <a:cubicBezTo>
                    <a:pt x="8563" y="1992951"/>
                    <a:pt x="0" y="1972277"/>
                    <a:pt x="0" y="1950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175000" cy="201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SSPILLOWY Pulse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 desarrollo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334000" y="7381875"/>
            <a:ext cx="7620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congelado desde la semana 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72000" y="8058150"/>
            <a:ext cx="91440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D7E4EC"/>
                </a:solidFill>
                <a:latin typeface="Open Sans"/>
                <a:ea typeface="Open Sans"/>
                <a:cs typeface="Open Sans"/>
                <a:sym typeface="Open Sans"/>
              </a:rPr>
              <a:t>La prioridad cambió de sumar funciones a asegurar calidad, integración y estabilidad.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Construir, integrar, desplegar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90750" y="3076384"/>
            <a:ext cx="4191000" cy="2857500"/>
            <a:chOff x="0" y="0"/>
            <a:chExt cx="5588000" cy="381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339725"/>
              <a:ext cx="1651000" cy="1257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0"/>
                </a:lnSpc>
              </a:pPr>
              <a:r>
                <a:rPr lang="en-US" sz="5700" b="true">
                  <a:solidFill>
                    <a:srgbClr val="24D6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81000" y="1666875"/>
              <a:ext cx="5080000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Diseño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81000" y="2501900"/>
              <a:ext cx="5080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componentes y contratos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572250" y="4505134"/>
            <a:ext cx="666750" cy="0"/>
          </a:xfrm>
          <a:prstGeom prst="line">
            <a:avLst/>
          </a:prstGeom>
          <a:ln cap="rnd" w="38100">
            <a:solidFill>
              <a:srgbClr val="3B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048500" y="3076384"/>
            <a:ext cx="4191000" cy="2857500"/>
            <a:chOff x="0" y="0"/>
            <a:chExt cx="5588000" cy="3810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81000" y="339725"/>
              <a:ext cx="1651000" cy="1257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0"/>
                </a:lnSpc>
              </a:pPr>
              <a:r>
                <a:rPr lang="en-US" sz="5700" b="true">
                  <a:solidFill>
                    <a:srgbClr val="24D6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81000" y="1666875"/>
              <a:ext cx="5080000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Integración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000" y="2501900"/>
              <a:ext cx="5080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incremental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1430000" y="4505134"/>
            <a:ext cx="666750" cy="0"/>
          </a:xfrm>
          <a:prstGeom prst="line">
            <a:avLst/>
          </a:prstGeom>
          <a:ln cap="rnd" w="38100">
            <a:solidFill>
              <a:srgbClr val="3B82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906250" y="3076384"/>
            <a:ext cx="4191000" cy="2857500"/>
            <a:chOff x="0" y="0"/>
            <a:chExt cx="5588000" cy="3810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588000" cy="3810000"/>
              <a:chOff x="0" y="0"/>
              <a:chExt cx="5588000" cy="381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588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588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1000" y="339725"/>
              <a:ext cx="1651000" cy="1257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0"/>
                </a:lnSpc>
              </a:pPr>
              <a:r>
                <a:rPr lang="en-US" sz="5700" b="true">
                  <a:solidFill>
                    <a:srgbClr val="24D6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81000" y="1666875"/>
              <a:ext cx="5080000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Entrega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81000" y="2501900"/>
              <a:ext cx="5080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despliegue continuo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47750" y="6591300"/>
            <a:ext cx="161925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3B82F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Jira  ·  Confluence  ·  GitHub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7750" y="7629525"/>
            <a:ext cx="16192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>
                <a:solidFill>
                  <a:srgbClr val="607080"/>
                </a:solidFill>
                <a:latin typeface="Open Sans"/>
                <a:ea typeface="Open Sans"/>
                <a:cs typeface="Open Sans"/>
                <a:sym typeface="Open Sans"/>
              </a:rPr>
              <a:t>Despliegue continuo: Vercel + Railway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Menos complejidad. Más control.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476500"/>
            <a:ext cx="7143750" cy="2381250"/>
            <a:chOff x="0" y="0"/>
            <a:chExt cx="9525000" cy="31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525000" cy="3175000"/>
              <a:chOff x="0" y="0"/>
              <a:chExt cx="9525000" cy="317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52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95250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525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44500" y="339725"/>
              <a:ext cx="1270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24D6C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905000" y="333375"/>
              <a:ext cx="7112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Simplificación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05000" y="1231900"/>
              <a:ext cx="7112000" cy="877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Redis/ARQ reemplazado para reducir dependencias.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39250" y="2476500"/>
            <a:ext cx="7143750" cy="2381250"/>
            <a:chOff x="0" y="0"/>
            <a:chExt cx="9525000" cy="3175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525000" cy="3175000"/>
              <a:chOff x="0" y="0"/>
              <a:chExt cx="9525000" cy="317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52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95250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525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339725"/>
              <a:ext cx="1270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24D6C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905000" y="333375"/>
              <a:ext cx="7112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IA resiliente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05000" y="1231900"/>
              <a:ext cx="7112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Motor ajustado con modelos de respaldo.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7750" y="5619750"/>
            <a:ext cx="7143750" cy="2381250"/>
            <a:chOff x="0" y="0"/>
            <a:chExt cx="9525000" cy="3175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525000" cy="3175000"/>
              <a:chOff x="0" y="0"/>
              <a:chExt cx="9525000" cy="3175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52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95250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9525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44500" y="339725"/>
              <a:ext cx="1270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24D6C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905000" y="333375"/>
              <a:ext cx="7112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Compatibilidad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05000" y="1231900"/>
              <a:ext cx="7112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Errores Docker y SQL resueltos.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39250" y="5619750"/>
            <a:ext cx="7143750" cy="2381250"/>
            <a:chOff x="0" y="0"/>
            <a:chExt cx="9525000" cy="3175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525000" cy="3175000"/>
              <a:chOff x="0" y="0"/>
              <a:chExt cx="9525000" cy="3175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52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95250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9525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44500" y="339725"/>
              <a:ext cx="1270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24D6C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905000" y="333375"/>
              <a:ext cx="7112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Alcance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905000" y="1231900"/>
              <a:ext cx="7112000" cy="433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1950">
                  <a:solidFill>
                    <a:srgbClr val="607080"/>
                  </a:solidFill>
                  <a:latin typeface="Open Sans"/>
                  <a:ea typeface="Open Sans"/>
                  <a:cs typeface="Open Sans"/>
                  <a:sym typeface="Open Sans"/>
                </a:rPr>
                <a:t>Crecimiento contenido desde semana 9.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arquitectura ya tiene memoria</a:t>
            </a:r>
          </a:p>
        </p:txBody>
      </p:sp>
      <p:sp>
        <p:nvSpPr>
          <p:cNvPr name="AutoShape 3" id="3"/>
          <p:cNvSpPr/>
          <p:nvPr/>
        </p:nvSpPr>
        <p:spPr>
          <a:xfrm>
            <a:off x="9810750" y="3095625"/>
            <a:ext cx="1905000" cy="0"/>
          </a:xfrm>
          <a:prstGeom prst="line">
            <a:avLst/>
          </a:prstGeom>
          <a:ln cap="flat" w="28575">
            <a:solidFill>
              <a:srgbClr val="6F87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239125" y="3714750"/>
            <a:ext cx="0" cy="2476500"/>
          </a:xfrm>
          <a:prstGeom prst="line">
            <a:avLst/>
          </a:prstGeom>
          <a:ln cap="flat" w="28575">
            <a:solidFill>
              <a:srgbClr val="6F87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3287375" y="3714750"/>
            <a:ext cx="0" cy="2476500"/>
          </a:xfrm>
          <a:prstGeom prst="line">
            <a:avLst/>
          </a:prstGeom>
          <a:ln cap="flat" w="28575">
            <a:solidFill>
              <a:srgbClr val="6F879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810750" y="6810375"/>
            <a:ext cx="1905000" cy="0"/>
          </a:xfrm>
          <a:prstGeom prst="line">
            <a:avLst/>
          </a:prstGeom>
          <a:ln cap="flat" w="28575">
            <a:solidFill>
              <a:srgbClr val="6F879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67500" y="2476500"/>
            <a:ext cx="3143250" cy="1238250"/>
            <a:chOff x="0" y="0"/>
            <a:chExt cx="4191000" cy="165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USUARIOS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roles · sesiones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15750" y="2476500"/>
            <a:ext cx="3143250" cy="1238250"/>
            <a:chOff x="0" y="0"/>
            <a:chExt cx="4191000" cy="165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24D6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PROYECTOS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repositorios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0" y="6191250"/>
            <a:ext cx="3143250" cy="1238250"/>
            <a:chOff x="0" y="0"/>
            <a:chExt cx="4191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ESCANEOS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08111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motores · estado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15750" y="6191250"/>
            <a:ext cx="3143250" cy="1238250"/>
            <a:chOff x="0" y="0"/>
            <a:chExt cx="4191000" cy="165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589424"/>
                  </a:lnTo>
                  <a:cubicBezTo>
                    <a:pt x="4191000" y="1623432"/>
                    <a:pt x="4163432" y="1651000"/>
                    <a:pt x="4129424" y="1651000"/>
                  </a:cubicBezTo>
                  <a:lnTo>
                    <a:pt x="61576" y="1651000"/>
                  </a:lnTo>
                  <a:cubicBezTo>
                    <a:pt x="27568" y="1651000"/>
                    <a:pt x="0" y="1623432"/>
                    <a:pt x="0" y="1589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3B82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19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HALLAZGOS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severidad · evidencia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7750" y="2228850"/>
            <a:ext cx="2476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24D6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" y="3438525"/>
            <a:ext cx="2476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7E4EC"/>
                </a:solidFill>
                <a:latin typeface="Open Sans"/>
                <a:ea typeface="Open Sans"/>
                <a:cs typeface="Open Sans"/>
                <a:sym typeface="Open Sans"/>
              </a:rPr>
              <a:t>tablas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4276725"/>
            <a:ext cx="2857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" y="5486400"/>
            <a:ext cx="2857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7E4EC"/>
                </a:solidFill>
                <a:latin typeface="Open Sans"/>
                <a:ea typeface="Open Sans"/>
                <a:cs typeface="Open Sans"/>
                <a:sym typeface="Open Sans"/>
              </a:rPr>
              <a:t>columnas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750" y="6324600"/>
            <a:ext cx="2476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3B82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750" y="7534275"/>
            <a:ext cx="2476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7E4EC"/>
                </a:solidFill>
                <a:latin typeface="Open Sans"/>
                <a:ea typeface="Open Sans"/>
                <a:cs typeface="Open Sans"/>
                <a:sym typeface="Open Sans"/>
              </a:rPr>
              <a:t>índices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" y="8820150"/>
            <a:ext cx="10477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9EB2BF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PostgreSQL 16 · documentación en plataforma y Confluence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8785" y="1909128"/>
            <a:ext cx="3028712" cy="6615747"/>
          </a:xfrm>
          <a:custGeom>
            <a:avLst/>
            <a:gdLst/>
            <a:ahLst/>
            <a:cxnLst/>
            <a:rect r="r" b="b" t="t" l="l"/>
            <a:pathLst>
              <a:path h="6615747" w="3028712">
                <a:moveTo>
                  <a:pt x="0" y="0"/>
                </a:moveTo>
                <a:lnTo>
                  <a:pt x="3028712" y="0"/>
                </a:lnTo>
                <a:lnTo>
                  <a:pt x="3028712" y="6615747"/>
                </a:lnTo>
                <a:lnTo>
                  <a:pt x="0" y="6615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1198" y="2003542"/>
            <a:ext cx="11520302" cy="6098560"/>
          </a:xfrm>
          <a:custGeom>
            <a:avLst/>
            <a:gdLst/>
            <a:ahLst/>
            <a:cxnLst/>
            <a:rect r="r" b="b" t="t" l="l"/>
            <a:pathLst>
              <a:path h="6098560" w="11520302">
                <a:moveTo>
                  <a:pt x="0" y="0"/>
                </a:moveTo>
                <a:lnTo>
                  <a:pt x="11520302" y="0"/>
                </a:lnTo>
                <a:lnTo>
                  <a:pt x="11520302" y="6098560"/>
                </a:lnTo>
                <a:lnTo>
                  <a:pt x="0" y="6098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Producto operativo, experiencia en expansión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8734425"/>
            <a:ext cx="4762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" b="true">
                <a:solidFill>
                  <a:srgbClr val="3B82F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WEB + 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01500" y="8734425"/>
            <a:ext cx="4762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" b="true">
                <a:solidFill>
                  <a:srgbClr val="3B82F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PULSE · EN DESARROLLO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9201150"/>
            <a:ext cx="857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080"/>
                </a:solidFill>
                <a:latin typeface="Open Sans"/>
                <a:ea typeface="Open Sans"/>
                <a:cs typeface="Open Sans"/>
                <a:sym typeface="Open Sans"/>
              </a:rPr>
              <a:t>Motores integrados · Pillow implementado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1500" y="920115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080"/>
                </a:solidFill>
                <a:latin typeface="Open Sans"/>
                <a:ea typeface="Open Sans"/>
                <a:cs typeface="Open Sans"/>
                <a:sym typeface="Open Sans"/>
              </a:rPr>
              <a:t>Pendiente: notificaciones y biometría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Calidad: de la revisión manual a la evidencia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714625"/>
            <a:ext cx="15240000" cy="1047750"/>
            <a:chOff x="0" y="0"/>
            <a:chExt cx="20320000" cy="1397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320000" cy="1397000"/>
              <a:chOff x="0" y="0"/>
              <a:chExt cx="20320000" cy="1397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320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0320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35000" y="358775"/>
              <a:ext cx="10414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Pruebas manuales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12954000" y="495300"/>
              <a:ext cx="406400" cy="406400"/>
              <a:chOff x="0" y="0"/>
              <a:chExt cx="406400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4D6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097000" y="396875"/>
              <a:ext cx="6096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35"/>
                </a:lnSpc>
              </a:pPr>
              <a:r>
                <a:rPr lang="en-US" sz="2025" b="true">
                  <a:solidFill>
                    <a:srgbClr val="10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 ejecución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50" y="4095750"/>
            <a:ext cx="15240000" cy="1047750"/>
            <a:chOff x="0" y="0"/>
            <a:chExt cx="20320000" cy="1397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0320000" cy="1397000"/>
              <a:chOff x="0" y="0"/>
              <a:chExt cx="20320000" cy="139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0320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0320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35000" y="358775"/>
              <a:ext cx="10414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Matriz de casos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12954000" y="495300"/>
              <a:ext cx="406400" cy="406400"/>
              <a:chOff x="0" y="0"/>
              <a:chExt cx="406400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3B82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4097000" y="396875"/>
              <a:ext cx="6096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35"/>
                </a:lnSpc>
              </a:pPr>
              <a:r>
                <a:rPr lang="en-US" sz="2025" b="true">
                  <a:solidFill>
                    <a:srgbClr val="10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 desarrollo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7750" y="5476875"/>
            <a:ext cx="15240000" cy="1047750"/>
            <a:chOff x="0" y="0"/>
            <a:chExt cx="20320000" cy="1397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0320000" cy="1397000"/>
              <a:chOff x="0" y="0"/>
              <a:chExt cx="20320000" cy="1397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0320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0320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35000" y="358775"/>
              <a:ext cx="10414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Pytest · SonarQube · JMeter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12954000" y="495300"/>
              <a:ext cx="406400" cy="406400"/>
              <a:chOff x="0" y="0"/>
              <a:chExt cx="406400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4097000" y="396875"/>
              <a:ext cx="6096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35"/>
                </a:lnSpc>
              </a:pPr>
              <a:r>
                <a:rPr lang="en-US" sz="2025" b="true">
                  <a:solidFill>
                    <a:srgbClr val="10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Semanas 13–14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7750" y="6858000"/>
            <a:ext cx="15240000" cy="1047750"/>
            <a:chOff x="0" y="0"/>
            <a:chExt cx="20320000" cy="1397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0320000" cy="1397000"/>
              <a:chOff x="0" y="0"/>
              <a:chExt cx="20320000" cy="1397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0320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20320000">
                    <a:moveTo>
                      <a:pt x="0" y="0"/>
                    </a:moveTo>
                    <a:lnTo>
                      <a:pt x="20320000" y="0"/>
                    </a:lnTo>
                    <a:lnTo>
                      <a:pt x="20320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0320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635000" y="358775"/>
              <a:ext cx="10414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Sentry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12954000" y="495300"/>
              <a:ext cx="406400" cy="406400"/>
              <a:chOff x="0" y="0"/>
              <a:chExt cx="406400" cy="406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F6B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4097000" y="396875"/>
              <a:ext cx="6096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35"/>
                </a:lnSpc>
              </a:pPr>
              <a:r>
                <a:rPr lang="en-US" sz="2025" b="true">
                  <a:solidFill>
                    <a:srgbClr val="10203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Integración en curso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avance también se ve en el historial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001000" y="2428875"/>
            <a:ext cx="9239250" cy="6191250"/>
          </a:xfrm>
          <a:custGeom>
            <a:avLst/>
            <a:gdLst/>
            <a:ahLst/>
            <a:cxnLst/>
            <a:rect r="r" b="b" t="t" l="l"/>
            <a:pathLst>
              <a:path h="6191250" w="9239250">
                <a:moveTo>
                  <a:pt x="0" y="0"/>
                </a:moveTo>
                <a:lnTo>
                  <a:pt x="9239250" y="0"/>
                </a:lnTo>
                <a:lnTo>
                  <a:pt x="923925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" t="0" r="-10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47750" y="2181225"/>
            <a:ext cx="571500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0"/>
              </a:lnSpc>
            </a:pPr>
            <a:r>
              <a:rPr lang="en-US" sz="10500" b="true">
                <a:solidFill>
                  <a:srgbClr val="24D6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100+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3867150"/>
            <a:ext cx="561975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commits desde el 23 de agosto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5267325"/>
            <a:ext cx="5619750" cy="289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 b="true">
                <a:solidFill>
                  <a:srgbClr val="DBE7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Sebastián</a:t>
            </a:r>
          </a:p>
          <a:p>
            <a:pPr algn="l">
              <a:lnSpc>
                <a:spcPts val="2880"/>
              </a:lnSpc>
            </a:pPr>
            <a:r>
              <a:rPr lang="en-US" sz="2250" b="true">
                <a:solidFill>
                  <a:srgbClr val="DBE7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+ consola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  <a:r>
              <a:rPr lang="en-US" sz="2250" b="true">
                <a:solidFill>
                  <a:srgbClr val="DBE7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Pilar</a:t>
            </a:r>
          </a:p>
          <a:p>
            <a:pPr algn="l">
              <a:lnSpc>
                <a:spcPts val="2880"/>
              </a:lnSpc>
            </a:pPr>
            <a:r>
              <a:rPr lang="en-US" sz="2250" b="true">
                <a:solidFill>
                  <a:srgbClr val="DBE7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 móvil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  <a:r>
              <a:rPr lang="en-US" sz="2250" b="true">
                <a:solidFill>
                  <a:srgbClr val="DBE7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Benjamín</a:t>
            </a:r>
          </a:p>
          <a:p>
            <a:pPr algn="l">
              <a:lnSpc>
                <a:spcPts val="2880"/>
              </a:lnSpc>
            </a:pPr>
            <a:r>
              <a:rPr lang="en-US" sz="2250" b="true">
                <a:solidFill>
                  <a:srgbClr val="DBE7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+ calidad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1000" y="8867775"/>
            <a:ext cx="9239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9EB2BF"/>
                </a:solidFill>
                <a:latin typeface="IBM Plex Mono"/>
                <a:ea typeface="IBM Plex Mono"/>
                <a:cs typeface="IBM Plex Mono"/>
                <a:sym typeface="IBM Plex Mono"/>
              </a:rPr>
              <a:t>Jira · Confluence · GitHub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42950"/>
            <a:ext cx="1428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Publicado hoy. Preparado para validar mañana.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152650"/>
            <a:ext cx="4286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8111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OPERATIVO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790825"/>
            <a:ext cx="7429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y calidad en curso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3867150"/>
            <a:ext cx="66675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607080"/>
                </a:solidFill>
                <a:latin typeface="Open Sans"/>
                <a:ea typeface="Open Sans"/>
                <a:cs typeface="Open Sans"/>
                <a:sym typeface="Open Sans"/>
              </a:rPr>
              <a:t>Control de alcance y seguimiento semanal</a:t>
            </a:r>
          </a:p>
        </p:txBody>
      </p:sp>
      <p:sp>
        <p:nvSpPr>
          <p:cNvPr name="AutoShape 6" id="6"/>
          <p:cNvSpPr/>
          <p:nvPr/>
        </p:nvSpPr>
        <p:spPr>
          <a:xfrm>
            <a:off x="1714500" y="6953250"/>
            <a:ext cx="14859000" cy="0"/>
          </a:xfrm>
          <a:prstGeom prst="line">
            <a:avLst/>
          </a:prstGeom>
          <a:ln cap="rnd" w="76200">
            <a:solidFill>
              <a:srgbClr val="CBD7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43000" y="5476875"/>
            <a:ext cx="3810000" cy="2366010"/>
            <a:chOff x="0" y="0"/>
            <a:chExt cx="5080000" cy="31546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635000" y="-381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3B82F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Ahora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2222500" y="1651000"/>
              <a:ext cx="635000" cy="635000"/>
              <a:chOff x="0" y="0"/>
              <a:chExt cx="635000" cy="635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24D6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2692400"/>
              <a:ext cx="508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Completar Pulse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19750" y="5476875"/>
            <a:ext cx="3810000" cy="2737485"/>
            <a:chOff x="0" y="0"/>
            <a:chExt cx="5080000" cy="364998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635000" y="-381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3B82F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Sem. 13–14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2222500" y="1651000"/>
              <a:ext cx="635000" cy="635000"/>
              <a:chOff x="0" y="0"/>
              <a:chExt cx="635000" cy="635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3B82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2692400"/>
              <a:ext cx="50800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Automatizar pruebas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SonarQube + Sentry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63250" y="5476875"/>
            <a:ext cx="3810000" cy="2737485"/>
            <a:chOff x="0" y="0"/>
            <a:chExt cx="5080000" cy="364998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635000" y="-38100"/>
              <a:ext cx="381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3B82F6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Sem. 14–17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2222500" y="1651000"/>
              <a:ext cx="635000" cy="635000"/>
              <a:chOff x="0" y="0"/>
              <a:chExt cx="635000" cy="635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" cy="635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" w="635000">
                    <a:moveTo>
                      <a:pt x="317500" y="0"/>
                    </a:moveTo>
                    <a:cubicBezTo>
                      <a:pt x="492850" y="0"/>
                      <a:pt x="635000" y="142150"/>
                      <a:pt x="635000" y="317500"/>
                    </a:cubicBezTo>
                    <a:cubicBezTo>
                      <a:pt x="635000" y="492850"/>
                      <a:pt x="492850" y="635000"/>
                      <a:pt x="317500" y="635000"/>
                    </a:cubicBezTo>
                    <a:cubicBezTo>
                      <a:pt x="142150" y="635000"/>
                      <a:pt x="0" y="492850"/>
                      <a:pt x="0" y="317500"/>
                    </a:cubicBezTo>
                    <a:cubicBezTo>
                      <a:pt x="0" y="142150"/>
                      <a:pt x="142150" y="0"/>
                      <a:pt x="317500" y="0"/>
                    </a:cubicBezTo>
                    <a:close/>
                  </a:path>
                </a:pathLst>
              </a:custGeom>
              <a:solidFill>
                <a:srgbClr val="3B82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35000" cy="67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692400"/>
              <a:ext cx="50800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Pruebas finales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0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mejoras + presentación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11049000" cy="10287000"/>
            <a:chOff x="0" y="0"/>
            <a:chExt cx="1473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3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732000">
                  <a:moveTo>
                    <a:pt x="0" y="0"/>
                  </a:moveTo>
                  <a:lnTo>
                    <a:pt x="14732000" y="0"/>
                  </a:lnTo>
                  <a:lnTo>
                    <a:pt x="1473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8111F">
                    <a:alpha val="100000"/>
                  </a:srgbClr>
                </a:gs>
                <a:gs pos="100000">
                  <a:srgbClr val="08111F">
                    <a:alpha val="8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3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8439" y="2939275"/>
            <a:ext cx="9048750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 por su atención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7362825"/>
            <a:ext cx="5905500" cy="7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A8BBC7"/>
                </a:solidFill>
                <a:latin typeface="IBM Plex Mono"/>
                <a:ea typeface="IBM Plex Mono"/>
                <a:cs typeface="IBM Plex Mono"/>
                <a:sym typeface="IBM Plex Mono"/>
              </a:rPr>
              <a:t>Seguimiento del proyecto</a:t>
            </a:r>
          </a:p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A8BBC7"/>
                </a:solidFill>
                <a:latin typeface="IBM Plex Mono"/>
                <a:ea typeface="IBM Plex Mono"/>
                <a:cs typeface="IBM Plex Mono"/>
                <a:sym typeface="IBM Plex Mono"/>
              </a:rPr>
              <a:t>sspillowy.com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DAHYGKsiTDA</dc:identifier>
  <dcterms:modified xsi:type="dcterms:W3CDTF">2011-08-01T06:04:30Z</dcterms:modified>
  <cp:revision>1</cp:revision>
  <dc:title>Avance Proyecto APT</dc:title>
</cp:coreProperties>
</file>