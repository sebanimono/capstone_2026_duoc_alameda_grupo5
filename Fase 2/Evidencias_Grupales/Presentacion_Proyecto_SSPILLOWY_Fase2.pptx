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Sebastián (15 s).</a:t>
            </a:r>
          </a:p>
          <a:p>
            <a:r>
              <a:t>Buenos días. Somos Sebastián, Benjamín y Pilar, y presentamos el avance de SSPILLOWY en la Fase 2. El avance tiene corte en la semana 9; esta semana 10 la dedicamos a preparar el informe y esta presentación.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Sebastián (15 s).</a:t>
            </a:r>
          </a:p>
          <a:p>
            <a:r>
              <a:t>Partimos por el problema y nuestra propuesta; luego el equipo, los objetivos y la carta Gantt; después las evidencias del sistema, la base de datos y la documentación; y cerramos con ajustes, próximos pasos y una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Sebastián (45 s).</a:t>
            </a:r>
          </a:p>
          <a:p>
            <a:r>
              <a:t>El problema: herramientas separadas, mucho ruido y decisiones tardías. Nuestra propuesta se centra en tres cosas: escanear con motores reconocidos, decidir con un gate y con apoyo de IA supervisada, y monitorear cumplimiento y salud. No intentamos abarcarlo todo: el histórico y los gráficos avanzados se los dejamos a Grafana.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Pilar (30 s).</a:t>
            </a:r>
          </a:p>
          <a:p>
            <a:r>
              <a:t>Nos organizamos por componentes. Sebastián lleva el hub web y la API; yo, Pilar, la app móvil Pulse; y Benjamín la calidad y las pruebas. Esta división nos dio autonomía, aunque también aprendimos que hay que integrar más seguido.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Pilar (50 s).</a:t>
            </a:r>
          </a:p>
          <a:p>
            <a:r>
              <a:t>El objetivo general se mantiene. De los seis objetivos específicos, tres están cumplidos: la arquitectura, los motores y el asistente de IA, aunque la arquitectura y la IA con ajustes. La consola web está avanzada, la app Pulse en curso y la calidad parcial: la observabilidad ya está, pero las pruebas automatizadas son en las semanas 13 y 14. Aunque todo está integrado, cada módulo sigue en mejora constante.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Pilar (60 s).</a:t>
            </a:r>
          </a:p>
          <a:p>
            <a:r>
              <a:t>En gris está el plan ajustado y en color lo ejecutado hasta la semana 9. Los motores y el DAST se terminaron antes de lo previsto, en la semana 4. El asistente de IA se ajustó: un proveedor con modelo de respaldo en vez de un enrutador entre varios modelos. La consola web y la app móvil están en curso; la app se integró en la semana 5. La meta es tener el producto listo y probado en la semana 14, la línea verde; la semana 15 queda para pulir y las semanas 16 y 17 para la presentación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Pilar (45 s).</a:t>
            </a:r>
          </a:p>
          <a:p>
            <a:r>
              <a:t>Mantenemos Scrum, con cuatro ajustes: despliegue continuo, trabajo por componentes, integración incremental de los motores y control del alcance desde la semana 9. Para gestionar usamos Jira, donde registramos cada tarea semanal; la documentación vive en Confluence; y el GitHub de Duoc queda para el código, su historial y las actividades del AVA. GitHub no está pensado para planificar sprints ni ver la carga del equipo; Jira 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Sebastián (50 s).</a:t>
            </a:r>
          </a:p>
          <a:p>
            <a:r>
              <a:t>El flujo es: un repositorio de cualquiera de las cuatro plataformas, un disparo por webhook o manual, la API clona el código y ejecuta los cuatro motores, y todo queda normalizado en PostgreSQL. Desde ahí, Pillow ayuda a priorizar, el gate responde al pipeline y la información se ve en la web, en la app y en Grafana. Respecto del plan, reemplazamos Redis/ARQ por tareas en segundo plano y agregamos espacios privados por cuenta.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Sebastián (40 s).</a:t>
            </a:r>
          </a:p>
          <a:p>
            <a:r>
              <a:t>Esta es la plataforma real, no una maqueta. El panel principal muestra hallazgos activos, críticos, cumplimiento de plazos, el porcentaje de análisis aprobados por el gate y los componentes más vulnerables. Son datos reales de nuestros repositorios de prueba y del propio SSPILLOWY.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Sebastián (45 s).</a:t>
            </a:r>
          </a:p>
          <a:p>
            <a:r>
              <a:t>A la izquierda, la gestión de repositorios: se agregan repositorios de GitHub, GitLab, Bitbucket o Azure, públicos o privados. A la derecha, el Security Gate: dice si los despliegues están bloqueados, por qué, el estado por repositorio y las reglas. Si algo urgente debe salir, se pide una excepción que alguien aprueba, desde la web o desde Pulse.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Benjamín (45 s).</a:t>
            </a:r>
          </a:p>
          <a:p>
            <a:r>
              <a:t>La base de datos es PostgreSQL 16 en Railway, con 22 tablas, 245 columnas y 36 índices, en tres grupos: el núcleo, el gobierno y la trazabilidad, y los módulos. La cadena principal va del espacio de trabajo al repositorio, al análisis, al hallazgo y a la bitácora de auditoría, así cada decisión queda registrada. Las contraseñas se guardan con hash bcrypt, los tokens de repositorios van cifrados y cada organización solo ve sus datos. Adjuntamos el diccionario de datos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Benjamín (30 s).</a:t>
            </a:r>
          </a:p>
          <a:p>
            <a:r>
              <a:t>La documentación está en varios niveles: dentro de la plataforma para los usuarios, los documentos técnicos y del curso, el diccionario de datos y el repositorio Git con más de 105 commits. Además cubrimos ocho marcos normativos, entre ellos ISO 27001, OWASP Top 10, NIST y la Ley 21.663.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Benjamín (40 s).</a:t>
            </a:r>
          </a:p>
          <a:p>
            <a:r>
              <a:t>Cada tarea y actividad semanal la registramos en Jira: backlog, sprints y épicas por componente, con responsable y estado. Esto nos permite ver el avance de cada semana y detectar atrasos a tiempo. La documentación del proyecto vive en Confluence, ordenada por áreas.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Benjamín (40 s).</a:t>
            </a:r>
          </a:p>
          <a:p>
            <a:r>
              <a:t>Para resguardar la calidad clasificamos los hallazgos con estándares reconocidos, la IA nunca decide sola y hicimos una revisión de seguridad propia que nos llevó a aislar los datos por cuenta y cifrar los tokens. Las pruebas hasta ahora son manuales; en las semanas 13 y 14 hago las pruebas automatizadas, de carga y el análisis con SonarQube.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Benjamín (50 s).</a:t>
            </a:r>
          </a:p>
          <a:p>
            <a:r>
              <a:t>Hicimos ajustes justificados: quitamos Redis/ARQ porque no era necesario, simplificamos la IA, ampliamos la consola y reorganizamos el plan para tener todo listo en la semana 14. Las dificultades fueron técnicas, como los motores en Docker y la IA, de integración con la app, y una de seguridad: en una revisión propia vimos que algunas credenciales eran compartidas entre cuentas y lo corregimos. Nuestro mayor aprendizaje fue controlar el alcance.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Pilar (40 s).</a:t>
            </a:r>
          </a:p>
          <a:p>
            <a:r>
              <a:t>Hasta la semana 13 terminamos lo integrado: la app conectada a la API real, los endpoints que necesita y el pulido de la consola; desde la semana 12 sumamos Sentry y Grafana Cloud. En las semanas 13 y 14 Benjamín hace las pruebas automatizadas y cerramos el informe, para tener el producto listo y probado en la semana 14. La semana 15 es para pulir según la retroalimentación, y en las semanas 16 y 17 viene la presentación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Sebastián (20 s).</a:t>
            </a:r>
          </a:p>
          <a:p>
            <a:r>
              <a:t>Cerramos con tres aprendizajes: controlar el alcance, integrar seguido y que la IA proponga pero una persona decida. Si hay tiempo (para llegar a 15 minutos), demo en vivo: agregar un repositorio, ejecutar un análisis, ver el gate bloqueando y abrir Pillow sobre un hallazgo. Luego,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371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spillow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18872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697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B8F0"/>
                </a:solidFill>
                <a:latin typeface="Segoe UI"/>
              </a:rPr>
              <a:t>Capstone · Fase 2 · Desarrollo del Proyecto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Segoe UI"/>
              </a:rPr>
              <a:t>SSPILLOWY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Segoe UI"/>
              </a:rPr>
              <a:t>Gobernanza DevSecOps: escanear, decidir y monitorear la seguridad del software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5029200"/>
            <a:ext cx="4663440" cy="0"/>
          </a:xfrm>
          <a:prstGeom prst="line">
            <a:avLst/>
          </a:prstGeom>
          <a:ln w="19050">
            <a:solidFill>
              <a:srgbClr val="4B2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5212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Sebastián Tralma  ·  Benjamín Hernández  ·  Pilar Valencia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9B8F0"/>
                </a:solidFill>
                <a:latin typeface="Segoe UI"/>
              </a:rPr>
              <a:t>Docente: Carlos Herrera  |  16 de octubre de 2026  |  Avance con corte a la semana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22376" cy="310896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223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192B"/>
                </a:solidFill>
                <a:latin typeface="Segoe UI"/>
              </a:rPr>
              <a:t>Qué vamos a mostrar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905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SSPILLOWY · Avance Fase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/>
            </a:r>
            <a:r>
              <a:rPr sz="1000">
                <a:solidFill>
                  <a:srgbClr val="5B6370"/>
                </a:solidFill>
                <a:latin typeface="Segoe UI"/>
              </a:rPr>
              <a:t>2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422392" cy="86868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28800"/>
            <a:ext cx="640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4B2A7B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828800"/>
            <a:ext cx="2926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192B"/>
                </a:solidFill>
                <a:latin typeface="Segoe UI"/>
              </a:rPr>
              <a:t>Problema y propuesta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828800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>
                <a:solidFill>
                  <a:srgbClr val="5B6370"/>
                </a:solidFill>
                <a:latin typeface="Segoe UI"/>
              </a:rPr>
              <a:t>Sebastián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80360"/>
            <a:ext cx="5422392" cy="86868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880360"/>
            <a:ext cx="640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4B2A7B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880360"/>
            <a:ext cx="2926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192B"/>
                </a:solidFill>
                <a:latin typeface="Segoe UI"/>
              </a:rPr>
              <a:t>Equipo y objetivos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880360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>
                <a:solidFill>
                  <a:srgbClr val="5B6370"/>
                </a:solidFill>
                <a:latin typeface="Segoe UI"/>
              </a:rPr>
              <a:t>Pilar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5422392" cy="86868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931920"/>
            <a:ext cx="640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4B2A7B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931920"/>
            <a:ext cx="2926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192B"/>
                </a:solidFill>
                <a:latin typeface="Segoe UI"/>
              </a:rPr>
              <a:t>Carta Gantt y metodología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931920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>
                <a:solidFill>
                  <a:srgbClr val="5B6370"/>
                </a:solidFill>
                <a:latin typeface="Segoe UI"/>
              </a:rPr>
              <a:t>Pilar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83479"/>
            <a:ext cx="5422392" cy="86868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983479"/>
            <a:ext cx="640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4B2A7B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983479"/>
            <a:ext cx="2926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192B"/>
                </a:solidFill>
                <a:latin typeface="Segoe UI"/>
              </a:rPr>
              <a:t>Arquitectura y aplicación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983479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>
                <a:solidFill>
                  <a:srgbClr val="5B6370"/>
                </a:solidFill>
                <a:latin typeface="Segoe UI"/>
              </a:rPr>
              <a:t>Sebastián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828800"/>
            <a:ext cx="5422392" cy="86868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828800"/>
            <a:ext cx="640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4B2A7B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79" y="1828800"/>
            <a:ext cx="2926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192B"/>
                </a:solidFill>
                <a:latin typeface="Segoe UI"/>
              </a:rPr>
              <a:t>Base de datos y documentación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1828800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>
                <a:solidFill>
                  <a:srgbClr val="5B6370"/>
                </a:solidFill>
                <a:latin typeface="Segoe UI"/>
              </a:rPr>
              <a:t>Benjamín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880360"/>
            <a:ext cx="5422392" cy="86868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880360"/>
            <a:ext cx="640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4B2A7B"/>
                </a:solidFill>
                <a:latin typeface="Segoe U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79" y="2880360"/>
            <a:ext cx="2926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192B"/>
                </a:solidFill>
                <a:latin typeface="Segoe UI"/>
              </a:rPr>
              <a:t>Calidad, ajustes y dificultades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880360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>
                <a:solidFill>
                  <a:srgbClr val="5B6370"/>
                </a:solidFill>
                <a:latin typeface="Segoe UI"/>
              </a:rPr>
              <a:t>Benjamín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931920"/>
            <a:ext cx="5422392" cy="86868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931920"/>
            <a:ext cx="640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4B2A7B"/>
                </a:solidFill>
                <a:latin typeface="Segoe UI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79" y="3931920"/>
            <a:ext cx="2926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192B"/>
                </a:solidFill>
                <a:latin typeface="Segoe UI"/>
              </a:rPr>
              <a:t>Próximos pasos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931920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>
                <a:solidFill>
                  <a:srgbClr val="5B6370"/>
                </a:solidFill>
                <a:latin typeface="Segoe UI"/>
              </a:rPr>
              <a:t>Pilar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983479"/>
            <a:ext cx="5422392" cy="86868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983479"/>
            <a:ext cx="640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4B2A7B"/>
                </a:solidFill>
                <a:latin typeface="Segoe UI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79" y="4983479"/>
            <a:ext cx="2926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192B"/>
                </a:solidFill>
                <a:latin typeface="Segoe UI"/>
              </a:rPr>
              <a:t>Demo y preguntas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983479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>
                <a:solidFill>
                  <a:srgbClr val="5B6370"/>
                </a:solidFill>
                <a:latin typeface="Segoe UI"/>
              </a:rPr>
              <a:t>Los tres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896112" cy="310896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8961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192B"/>
                </a:solidFill>
                <a:latin typeface="Segoe UI"/>
              </a:rPr>
              <a:t>Qué resuelve SSPILLOWY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905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SSPILLOWY · Avance Fase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/>
            </a:r>
            <a:r>
              <a:rPr sz="1000">
                <a:solidFill>
                  <a:srgbClr val="5B6370"/>
                </a:solidFill>
                <a:latin typeface="Segoe UI"/>
              </a:rPr>
              <a:t>3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91672" cy="1005840"/>
          </a:xfrm>
          <a:prstGeom prst="rect">
            <a:avLst/>
          </a:prstGeom>
          <a:solidFill>
            <a:srgbClr val="14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0607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Segoe UI"/>
              </a:rPr>
              <a:t>Los equipos usan escáneres aislados, se saturan de hallazgos y deciden tarde. SSPILLOWY reúne todo en un solo lugar y ayuda a decidir qué bloquear, qué corregir y qué aceptar.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3538728" cy="315468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82112"/>
            <a:ext cx="30815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4B2A7B"/>
                </a:solidFill>
                <a:latin typeface="Segoe UI"/>
              </a:rPr>
              <a:t>1. Escanear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75887"/>
            <a:ext cx="308152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433"/>
                </a:solidFill>
                <a:latin typeface="Segoe UI"/>
              </a:rPr>
              <a:t>Cuatro motores open source en cada análisis: Semgrep, Trivy, Gitleaks y OWASP ZAP.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433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433"/>
                </a:solidFill>
                <a:latin typeface="Segoe UI"/>
              </a:rPr>
              <a:t>Resultados en un solo modelo de datos, sin duplicados entre análisis.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3017520"/>
            <a:ext cx="3538728" cy="315468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3182112"/>
            <a:ext cx="30815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4B2A7B"/>
                </a:solidFill>
                <a:latin typeface="Segoe UI"/>
              </a:rPr>
              <a:t>2. Decidir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675887"/>
            <a:ext cx="308152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433"/>
                </a:solidFill>
                <a:latin typeface="Segoe UI"/>
              </a:rPr>
              <a:t>Security Gate que el pipeline consulta antes de desplegar, con excepciones aprobables.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433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433"/>
                </a:solidFill>
                <a:latin typeface="Segoe UI"/>
              </a:rPr>
              <a:t>Pillow, el asistente de IA, prioriza y propone. Una persona siempre decide.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3" y="3017520"/>
            <a:ext cx="3538728" cy="315468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3" y="3182112"/>
            <a:ext cx="30815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4B2A7B"/>
                </a:solidFill>
                <a:latin typeface="Segoe UI"/>
              </a:rPr>
              <a:t>3. Monitorear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3675887"/>
            <a:ext cx="308152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433"/>
                </a:solidFill>
                <a:latin typeface="Segoe UI"/>
              </a:rPr>
              <a:t>Cumplimiento normativo (ISO 27001, OWASP, NIST, Ley 21.663), secretos expuestos y SBOM.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433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F2433"/>
                </a:solidFill>
                <a:latin typeface="Segoe UI"/>
              </a:rPr>
              <a:t>Métricas de la plataforma para Prometheus y Grafana.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22376" cy="310896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223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192B"/>
                </a:solidFill>
                <a:latin typeface="Segoe UI"/>
              </a:rPr>
              <a:t>Equipo y responsabilidades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905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SSPILLOWY · Avance Fase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/>
            </a:r>
            <a:r>
              <a:rPr sz="1000">
                <a:solidFill>
                  <a:srgbClr val="5B6370"/>
                </a:solidFill>
                <a:latin typeface="Segoe UI"/>
              </a:rPr>
              <a:t>4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538728" cy="420624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1031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4192B"/>
                </a:solidFill>
                <a:latin typeface="Segoe UI"/>
              </a:rPr>
              <a:t>Sebastián Tralma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6060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4B2A7B"/>
                </a:solidFill>
                <a:latin typeface="Segoe UI"/>
              </a:rPr>
              <a:t>Hub web y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154680"/>
            <a:ext cx="3017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>
                <a:solidFill>
                  <a:srgbClr val="1F2433"/>
                </a:solidFill>
                <a:latin typeface="Segoe UI"/>
              </a:rPr>
              <a:t>Arquitectura, backend en FastAPI, integración de los cuatro motores, Security Gate, Pillow y consola web.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59" y="4892040"/>
            <a:ext cx="2990089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59" y="49834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B6370"/>
                </a:solidFill>
                <a:latin typeface="Segoe UI"/>
              </a:rPr>
              <a:t>Estado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25780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E7B34"/>
                </a:solidFill>
                <a:latin typeface="Segoe UI"/>
              </a:rPr>
              <a:t>Hub publicado con 17 módulos.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5112" y="1828800"/>
            <a:ext cx="3538728" cy="420624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1" y="21031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4192B"/>
                </a:solidFill>
                <a:latin typeface="Segoe UI"/>
              </a:rPr>
              <a:t>Pilar Valencia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26060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4B2A7B"/>
                </a:solidFill>
                <a:latin typeface="Segoe UI"/>
              </a:rPr>
              <a:t>App móvil Pulse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3154680"/>
            <a:ext cx="3017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>
                <a:solidFill>
                  <a:srgbClr val="1F2433"/>
                </a:solidFill>
                <a:latin typeface="Segoe UI"/>
              </a:rPr>
              <a:t>App en Flutter para recibir alertas push y aprobar o rechazar excepciones del gate con biometría.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99431" y="4892040"/>
            <a:ext cx="2990088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99431" y="49834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B6370"/>
                </a:solidFill>
                <a:latin typeface="Segoe UI"/>
              </a:rPr>
              <a:t>Estado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1" y="525780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0B63CE"/>
                </a:solidFill>
                <a:latin typeface="Segoe UI"/>
              </a:rPr>
              <a:t>Integrada al repositorio; push, biometría y aprobación en semanas 10 a 13.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01583" y="1828800"/>
            <a:ext cx="3538728" cy="420624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21031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4192B"/>
                </a:solidFill>
                <a:latin typeface="Segoe UI"/>
              </a:rPr>
              <a:t>Benjamín Hernández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26060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4B2A7B"/>
                </a:solidFill>
                <a:latin typeface="Segoe UI"/>
              </a:rPr>
              <a:t>Calidad y pruebas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3154680"/>
            <a:ext cx="3017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>
                <a:solidFill>
                  <a:srgbClr val="1F2433"/>
                </a:solidFill>
                <a:latin typeface="Segoe UI"/>
              </a:rPr>
              <a:t>Pruebas manuales de los flujos principales antes de cada entrega. Semanas 13 y 14: Pytest, SonarQube, JMeter y matriz de casos.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75904" y="4892040"/>
            <a:ext cx="2990088" cy="0"/>
          </a:xfrm>
          <a:prstGeom prst="line">
            <a:avLst/>
          </a:prstGeom>
          <a:ln w="1270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375904" y="49834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B6370"/>
                </a:solidFill>
                <a:latin typeface="Segoe UI"/>
              </a:rPr>
              <a:t>Estado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525780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0B63CE"/>
                </a:solidFill>
                <a:latin typeface="Segoe UI"/>
              </a:rPr>
              <a:t>Pruebas manuales antes de cada entrega.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982980" cy="310896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829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192B"/>
                </a:solidFill>
                <a:latin typeface="Segoe UI"/>
              </a:rPr>
              <a:t>Estado de los objetivos específicos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905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SSPILLOWY · Avance Fase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/>
            </a:r>
            <a:r>
              <a:rPr sz="1000">
                <a:solidFill>
                  <a:srgbClr val="5B6370"/>
                </a:solidFill>
                <a:latin typeface="Segoe UI"/>
              </a:rPr>
              <a:t>5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11091672" cy="667512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37360"/>
            <a:ext cx="45720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4B2A7B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737360"/>
            <a:ext cx="29260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92B"/>
                </a:solidFill>
                <a:latin typeface="Segoe UI"/>
              </a:rPr>
              <a:t>Arquitectura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737360"/>
            <a:ext cx="20116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7B34"/>
                </a:solidFill>
                <a:latin typeface="Segoe UI"/>
              </a:rPr>
              <a:t>Cumplido · ajustado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737360"/>
            <a:ext cx="534924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FastAPI y PostgreSQL (22 tablas) en producción. Tareas en segundo plano en vez de Redis/ARQ y espacios privados por cuenta.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04872"/>
            <a:ext cx="45720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4B2A7B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404872"/>
            <a:ext cx="29260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92B"/>
                </a:solidFill>
                <a:latin typeface="Segoe UI"/>
              </a:rPr>
              <a:t>Motores de detección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04872"/>
            <a:ext cx="20116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7B34"/>
                </a:solidFill>
                <a:latin typeface="Segoe UI"/>
              </a:rPr>
              <a:t>Cumplido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404872"/>
            <a:ext cx="534924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Semgrep, Trivy, Gitleaks y OWASP ZAP normalizados en un modelo único de hallazgo.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72384"/>
            <a:ext cx="11091672" cy="667512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072384"/>
            <a:ext cx="45720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4B2A7B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72384"/>
            <a:ext cx="29260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92B"/>
                </a:solidFill>
                <a:latin typeface="Segoe UI"/>
              </a:rPr>
              <a:t>Asistente de IA (Pillow)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072384"/>
            <a:ext cx="20116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7B34"/>
                </a:solidFill>
                <a:latin typeface="Segoe UI"/>
              </a:rPr>
              <a:t>Cumplido · ajustado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072384"/>
            <a:ext cx="534924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Prioriza, explica el impacto y propone remediaciones. Nada se aplica sin aprobación humana.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739896"/>
            <a:ext cx="45720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4B2A7B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739896"/>
            <a:ext cx="29260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92B"/>
                </a:solidFill>
                <a:latin typeface="Segoe UI"/>
              </a:rPr>
              <a:t>Consola web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739896"/>
            <a:ext cx="20116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63CE"/>
                </a:solidFill>
                <a:latin typeface="Segoe UI"/>
              </a:rPr>
              <a:t>Avanzado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739896"/>
            <a:ext cx="534924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Hallazgos, Security Gates, CI/CD, secretos, SBOM, cumplimiento, observabilidad y trazabilidad.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407408"/>
            <a:ext cx="11091672" cy="667512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407408"/>
            <a:ext cx="45720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4B2A7B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407408"/>
            <a:ext cx="29260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92B"/>
                </a:solidFill>
                <a:latin typeface="Segoe UI"/>
              </a:rPr>
              <a:t>App móvil Pulse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407408"/>
            <a:ext cx="20116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63CE"/>
                </a:solidFill>
                <a:latin typeface="Segoe UI"/>
              </a:rPr>
              <a:t>En curso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4407408"/>
            <a:ext cx="534924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Integrada y consumiendo la API. Falta push, biometría y aprobación de excepciones.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74920"/>
            <a:ext cx="45720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4B2A7B"/>
                </a:solidFill>
                <a:latin typeface="Segoe U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074920"/>
            <a:ext cx="29260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92B"/>
                </a:solidFill>
                <a:latin typeface="Segoe UI"/>
              </a:rPr>
              <a:t>Calidad y rendimiento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5074920"/>
            <a:ext cx="20116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86E00"/>
                </a:solidFill>
                <a:latin typeface="Segoe UI"/>
              </a:rPr>
              <a:t>Parcial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5074920"/>
            <a:ext cx="534924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Observabilidad lista. Pruebas automatizadas en las semanas 13 y 14; hasta ahora, manuales.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870448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370"/>
                </a:solidFill>
                <a:latin typeface="Segoe UI"/>
              </a:rPr>
              <a:t>El objetivo general se mantiene. Ajustamos los objetivos 1, 3 y 4 y todos los módulos siguen en mejora constante hasta el cierre.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722376" cy="310896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223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AVANCE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192B"/>
                </a:solidFill>
                <a:latin typeface="Segoe UI"/>
              </a:rPr>
              <a:t>Carta Gantt · corte en la semana 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905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SSPILLOWY · Avance Fase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/>
            </a:r>
            <a:r>
              <a:rPr sz="1000">
                <a:solidFill>
                  <a:srgbClr val="5B6370"/>
                </a:solidFill>
                <a:latin typeface="Segoe UI"/>
              </a:rPr>
              <a:t>6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11091672" cy="402336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53512"/>
            <a:ext cx="11091672" cy="402336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758184"/>
            <a:ext cx="11091672" cy="402336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562856"/>
            <a:ext cx="11091672" cy="402336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367528"/>
            <a:ext cx="11091672" cy="402336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2148840"/>
            <a:ext cx="365760" cy="3621024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26880" y="2148840"/>
            <a:ext cx="731520" cy="3621024"/>
          </a:xfrm>
          <a:prstGeom prst="rect">
            <a:avLst/>
          </a:prstGeom>
          <a:solidFill>
            <a:srgbClr val="E6D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60020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4B2A7B"/>
                </a:solidFill>
                <a:latin typeface="Segoe UI"/>
              </a:rPr>
              <a:t>Pulir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60020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4192B"/>
                </a:solidFill>
                <a:latin typeface="Segoe UI"/>
              </a:rPr>
              <a:t>Presentar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184708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84708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4708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84708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184708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184708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184708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84708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84708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184708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184708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184708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184708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184708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184708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184708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1847088"/>
            <a:ext cx="365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1847088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B6370"/>
                </a:solidFill>
                <a:latin typeface="Segoe UI"/>
              </a:rPr>
              <a:t>Estado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2148840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433"/>
                </a:solidFill>
                <a:latin typeface="Segoe UI"/>
              </a:rPr>
              <a:t>Arquitectura y requerimientos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0" y="2231136"/>
            <a:ext cx="731520" cy="237744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40480" y="2295144"/>
            <a:ext cx="731520" cy="109728"/>
          </a:xfrm>
          <a:prstGeom prst="rect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87000" y="2148840"/>
            <a:ext cx="13258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E7B34"/>
                </a:solidFill>
                <a:latin typeface="Segoe UI"/>
              </a:rPr>
              <a:t>Completado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2551176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433"/>
                </a:solidFill>
                <a:latin typeface="Segoe UI"/>
              </a:rPr>
              <a:t>Motores Semgrep, Trivy y Gitleaks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2633472"/>
            <a:ext cx="1463040" cy="237744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0" y="2697480"/>
            <a:ext cx="731520" cy="109728"/>
          </a:xfrm>
          <a:prstGeom prst="rect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87000" y="2551176"/>
            <a:ext cx="13258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E7B34"/>
                </a:solidFill>
                <a:latin typeface="Segoe UI"/>
              </a:rPr>
              <a:t>Completado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2953512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433"/>
                </a:solidFill>
                <a:latin typeface="Segoe UI"/>
              </a:rPr>
              <a:t>DAST con OWASP ZAP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3035808"/>
            <a:ext cx="731520" cy="237744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937760" y="3099816"/>
            <a:ext cx="365760" cy="109728"/>
          </a:xfrm>
          <a:prstGeom prst="rect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87000" y="2953512"/>
            <a:ext cx="13258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E7B34"/>
                </a:solidFill>
                <a:latin typeface="Segoe UI"/>
              </a:rPr>
              <a:t>Completado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3355848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433"/>
                </a:solidFill>
                <a:latin typeface="Segoe UI"/>
              </a:rPr>
              <a:t>Asistente de IA (Pillow)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3438144"/>
            <a:ext cx="1097280" cy="237744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0" y="3502152"/>
            <a:ext cx="2194560" cy="109728"/>
          </a:xfrm>
          <a:prstGeom prst="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87000" y="3355848"/>
            <a:ext cx="13258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86E00"/>
                </a:solidFill>
                <a:latin typeface="Segoe UI"/>
              </a:rPr>
              <a:t>Ajustada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3758184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433"/>
                </a:solidFill>
                <a:latin typeface="Segoe UI"/>
              </a:rPr>
              <a:t>Consola web (Web Hub)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66560" y="3840480"/>
            <a:ext cx="1828800" cy="237744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0" y="3904488"/>
            <a:ext cx="2926080" cy="109728"/>
          </a:xfrm>
          <a:prstGeom prst="rect">
            <a:avLst/>
          </a:prstGeom>
          <a:solidFill>
            <a:srgbClr val="0B6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87000" y="3758184"/>
            <a:ext cx="13258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B63CE"/>
                </a:solidFill>
                <a:latin typeface="Segoe UI"/>
              </a:rPr>
              <a:t>En curso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4160520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433"/>
                </a:solidFill>
                <a:latin typeface="Segoe UI"/>
              </a:rPr>
              <a:t>App móvil Pulse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32320" y="4242816"/>
            <a:ext cx="1463040" cy="237744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03520" y="4306824"/>
            <a:ext cx="1828800" cy="109728"/>
          </a:xfrm>
          <a:prstGeom prst="rect">
            <a:avLst/>
          </a:prstGeom>
          <a:solidFill>
            <a:srgbClr val="0B6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87000" y="4160520"/>
            <a:ext cx="13258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B63CE"/>
                </a:solidFill>
                <a:latin typeface="Segoe UI"/>
              </a:rPr>
              <a:t>En curso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" y="4562856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433"/>
                </a:solidFill>
                <a:latin typeface="Segoe UI"/>
              </a:rPr>
              <a:t>Pruebas y observabilidad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0" y="4645152"/>
            <a:ext cx="731520" cy="237744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400800" y="4709160"/>
            <a:ext cx="731520" cy="109728"/>
          </a:xfrm>
          <a:prstGeom prst="rect">
            <a:avLst/>
          </a:prstGeom>
          <a:solidFill>
            <a:srgbClr val="0B6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87000" y="4562856"/>
            <a:ext cx="13258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B63CE"/>
                </a:solidFill>
                <a:latin typeface="Segoe UI"/>
              </a:rPr>
              <a:t>En curso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4965192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433"/>
                </a:solidFill>
                <a:latin typeface="Segoe UI"/>
              </a:rPr>
              <a:t>Despliegue, documentación e informe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0" y="5047488"/>
            <a:ext cx="731520" cy="237744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06240" y="5111496"/>
            <a:ext cx="2926080" cy="109728"/>
          </a:xfrm>
          <a:prstGeom prst="rect">
            <a:avLst/>
          </a:prstGeom>
          <a:solidFill>
            <a:srgbClr val="0B6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287000" y="4965192"/>
            <a:ext cx="13258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B63CE"/>
                </a:solidFill>
                <a:latin typeface="Segoe UI"/>
              </a:rPr>
              <a:t>En curso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" y="5367528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433"/>
                </a:solidFill>
                <a:latin typeface="Segoe UI"/>
              </a:rPr>
              <a:t>Gestión en Jira y Confluence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5449824"/>
            <a:ext cx="5120640" cy="237744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840480" y="5513832"/>
            <a:ext cx="3291840" cy="109728"/>
          </a:xfrm>
          <a:prstGeom prst="rect">
            <a:avLst/>
          </a:prstGeom>
          <a:solidFill>
            <a:srgbClr val="0B6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287000" y="5367528"/>
            <a:ext cx="13258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B63CE"/>
                </a:solidFill>
                <a:latin typeface="Segoe UI"/>
              </a:rPr>
              <a:t>En curso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132320" y="2103120"/>
            <a:ext cx="0" cy="3712464"/>
          </a:xfrm>
          <a:prstGeom prst="line">
            <a:avLst/>
          </a:prstGeom>
          <a:ln w="22225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961120" y="2103120"/>
            <a:ext cx="0" cy="3712464"/>
          </a:xfrm>
          <a:prstGeom prst="line">
            <a:avLst/>
          </a:prstGeom>
          <a:ln w="25400">
            <a:solidFill>
              <a:srgbClr val="1E7B3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492240" y="5843016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C62828"/>
                </a:solidFill>
                <a:latin typeface="Segoe UI"/>
              </a:rPr>
              <a:t>Corte sem. 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21040" y="5843016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7B34"/>
                </a:solidFill>
                <a:latin typeface="Segoe UI"/>
              </a:rPr>
              <a:t>Listo sem. 14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8368" y="6053328"/>
            <a:ext cx="365760" cy="146304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97280" y="59893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Plan ajustado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14600" y="6089904"/>
            <a:ext cx="365760" cy="73152"/>
          </a:xfrm>
          <a:prstGeom prst="rect">
            <a:avLst/>
          </a:prstGeom>
          <a:solidFill>
            <a:srgbClr val="0B6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971800" y="5989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Ejecutado (color según estado)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156716" cy="310896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567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192B"/>
                </a:solidFill>
                <a:latin typeface="Segoe UI"/>
              </a:rPr>
              <a:t>Scrum con cuatro ajustes y una gestión ordenada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905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SSPILLOWY · Avance Fase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/>
            </a:r>
            <a:r>
              <a:rPr sz="1000">
                <a:solidFill>
                  <a:srgbClr val="5B6370"/>
                </a:solidFill>
                <a:latin typeface="Segoe UI"/>
              </a:rPr>
              <a:t>7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6583680" cy="443484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6126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4B2A7B"/>
                </a:solidFill>
                <a:latin typeface="Segoe UI"/>
              </a:rPr>
              <a:t>Cómo trabajamos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61264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550" b="1">
                <a:solidFill>
                  <a:srgbClr val="14192B"/>
                </a:solidFill>
                <a:latin typeface="Segoe UI"/>
              </a:rPr>
              <a:t>1. Despliegue continuo: </a:t>
            </a:r>
            <a:r>
              <a:rPr sz="1550" b="0">
                <a:solidFill>
                  <a:srgbClr val="1F2433"/>
                </a:solidFill>
                <a:latin typeface="Segoe UI"/>
              </a:rPr>
              <a:t>cada cambio en la rama principal se publica solo (Vercel y Railway). Validamos en un entorno real desde la semana 2.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550" b="1">
                <a:solidFill>
                  <a:srgbClr val="14192B"/>
                </a:solidFill>
                <a:latin typeface="Segoe UI"/>
              </a:rPr>
              <a:t>2. Trabajo por componentes: </a:t>
            </a:r>
            <a:r>
              <a:rPr sz="1550" b="0">
                <a:solidFill>
                  <a:srgbClr val="1F2433"/>
                </a:solidFill>
                <a:latin typeface="Segoe UI"/>
              </a:rPr>
              <a:t>web y API (Sebastián), app móvil (Pilar), calidad y pruebas (Benjamín).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550" b="1">
                <a:solidFill>
                  <a:srgbClr val="14192B"/>
                </a:solidFill>
                <a:latin typeface="Segoe UI"/>
              </a:rPr>
              <a:t>3. Integración incremental: </a:t>
            </a:r>
            <a:r>
              <a:rPr sz="1550" b="0">
                <a:solidFill>
                  <a:srgbClr val="1F2433"/>
                </a:solidFill>
                <a:latin typeface="Segoe UI"/>
              </a:rPr>
              <a:t>un motor a la vez, validado con repositorios de prueba antes del siguiente.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550" b="1">
                <a:solidFill>
                  <a:srgbClr val="14192B"/>
                </a:solidFill>
                <a:latin typeface="Segoe UI"/>
              </a:rPr>
              <a:t>4. Control del alcance: </a:t>
            </a:r>
            <a:r>
              <a:rPr sz="1550" b="0">
                <a:solidFill>
                  <a:srgbClr val="1F2433"/>
                </a:solidFill>
                <a:latin typeface="Segoe UI"/>
              </a:rPr>
              <a:t>desde la semana 9 no agregamos módulos; las ideas quedan como "Próximamente".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783080"/>
            <a:ext cx="42793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1920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192B"/>
                </a:solidFill>
                <a:latin typeface="Segoe UI"/>
              </a:rPr>
              <a:t>Jira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193852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4B2A7B"/>
                </a:solidFill>
                <a:latin typeface="Segoe UI"/>
              </a:rPr>
              <a:t>Gestionar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350008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Cada tarea y actividad semanal: backlog, sprints, épicas, responsable y estado.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3291839"/>
            <a:ext cx="42793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342899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192B"/>
                </a:solidFill>
                <a:latin typeface="Segoe UI"/>
              </a:rPr>
              <a:t>Confluence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447287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4B2A7B"/>
                </a:solidFill>
                <a:latin typeface="Segoe UI"/>
              </a:rPr>
              <a:t>Documentar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858768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Documentación del proyecto organizada por áreas, de producto a operación.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4800600"/>
            <a:ext cx="42793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49377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192B"/>
                </a:solidFill>
                <a:latin typeface="Segoe UI"/>
              </a:rPr>
              <a:t>GitHub Duoc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495604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4B2A7B"/>
                </a:solidFill>
                <a:latin typeface="Segoe UI"/>
              </a:rPr>
              <a:t>Código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5367528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Código, historial de cambios y actividades AVA grupales e individuales.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243584" cy="310896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2435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192B"/>
                </a:solidFill>
                <a:latin typeface="Segoe UI"/>
              </a:rPr>
              <a:t>Cómo funciona hoy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905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SSPILLOWY · Avance Fase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/>
            </a:r>
            <a:r>
              <a:rPr sz="1000">
                <a:solidFill>
                  <a:srgbClr val="5B6370"/>
                </a:solidFill>
                <a:latin typeface="Segoe UI"/>
              </a:rPr>
              <a:t>8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947672" cy="1417320"/>
          </a:xfrm>
          <a:prstGeom prst="rect">
            <a:avLst/>
          </a:prstGeom>
          <a:solidFill>
            <a:srgbClr val="14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38528"/>
            <a:ext cx="1618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Repositorio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77440"/>
            <a:ext cx="1618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C9B8F0"/>
                </a:solidFill>
                <a:latin typeface="Segoe UI"/>
              </a:rPr>
              <a:t>GitHub, GitLab, Bitbucket o Azure DevOps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42032" y="2542032"/>
            <a:ext cx="246888" cy="0"/>
          </a:xfrm>
          <a:prstGeom prst="line">
            <a:avLst/>
          </a:prstGeom>
          <a:ln w="19050">
            <a:solidFill>
              <a:srgbClr val="5B63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834640" y="1828800"/>
            <a:ext cx="1947672" cy="1417320"/>
          </a:xfrm>
          <a:prstGeom prst="rect">
            <a:avLst/>
          </a:prstGeom>
          <a:solidFill>
            <a:srgbClr val="14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1938528"/>
            <a:ext cx="1618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Disparo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377440"/>
            <a:ext cx="1618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C9B8F0"/>
                </a:solidFill>
                <a:latin typeface="Segoe UI"/>
              </a:rPr>
              <a:t>Webhook en cada push o PR, o análisis manual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28032" y="2542032"/>
            <a:ext cx="246888" cy="0"/>
          </a:xfrm>
          <a:prstGeom prst="line">
            <a:avLst/>
          </a:prstGeom>
          <a:ln w="19050">
            <a:solidFill>
              <a:srgbClr val="5B63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120640" y="1828800"/>
            <a:ext cx="1947672" cy="1417320"/>
          </a:xfrm>
          <a:prstGeom prst="rect">
            <a:avLst/>
          </a:prstGeom>
          <a:solidFill>
            <a:srgbClr val="14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1" y="1938528"/>
            <a:ext cx="1618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API 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1" y="2377440"/>
            <a:ext cx="1618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C9B8F0"/>
                </a:solidFill>
                <a:latin typeface="Segoe UI"/>
              </a:rPr>
              <a:t>Clona y ejecuta los motores en segundo plano (Railway)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14031" y="2542032"/>
            <a:ext cx="246888" cy="0"/>
          </a:xfrm>
          <a:prstGeom prst="line">
            <a:avLst/>
          </a:prstGeom>
          <a:ln w="19050">
            <a:solidFill>
              <a:srgbClr val="5B63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406640" y="1828800"/>
            <a:ext cx="1947672" cy="1417320"/>
          </a:xfrm>
          <a:prstGeom prst="rect">
            <a:avLst/>
          </a:prstGeom>
          <a:solidFill>
            <a:srgbClr val="14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1" y="1938528"/>
            <a:ext cx="1618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4 motores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1" y="2377440"/>
            <a:ext cx="1618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C9B8F0"/>
                </a:solidFill>
                <a:latin typeface="Segoe UI"/>
              </a:rPr>
              <a:t>Semgrep · Trivy · Gitleaks · OWASP ZAP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00032" y="2542032"/>
            <a:ext cx="246887" cy="0"/>
          </a:xfrm>
          <a:prstGeom prst="line">
            <a:avLst/>
          </a:prstGeom>
          <a:ln w="19050">
            <a:solidFill>
              <a:srgbClr val="5B63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692640" y="1828800"/>
            <a:ext cx="1947672" cy="1417320"/>
          </a:xfrm>
          <a:prstGeom prst="rect">
            <a:avLst/>
          </a:prstGeom>
          <a:solidFill>
            <a:srgbClr val="14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57232" y="1938528"/>
            <a:ext cx="1618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PostgreSQL 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7232" y="2377440"/>
            <a:ext cx="1618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C9B8F0"/>
                </a:solidFill>
                <a:latin typeface="Segoe UI"/>
              </a:rPr>
              <a:t>Hallazgos normalizados en 22 tablas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92B"/>
                </a:solidFill>
                <a:latin typeface="Segoe UI"/>
              </a:rPr>
              <a:t>Con esos hallazgos, cada persona decide desde donde trabaja: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023360"/>
            <a:ext cx="1947672" cy="132588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133087"/>
            <a:ext cx="1618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B2A7B"/>
                </a:solidFill>
                <a:latin typeface="Segoe UI"/>
              </a:rPr>
              <a:t>Pillow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544568"/>
            <a:ext cx="16184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1F2433"/>
                </a:solidFill>
                <a:latin typeface="Segoe UI"/>
              </a:rPr>
              <a:t>IA que prioriza y propone; una persona aprueba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4023360"/>
            <a:ext cx="1947672" cy="132588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9232" y="4133087"/>
            <a:ext cx="1618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B2A7B"/>
                </a:solidFill>
                <a:latin typeface="Segoe UI"/>
              </a:rPr>
              <a:t>Security Gate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99232" y="4544568"/>
            <a:ext cx="16184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1F2433"/>
                </a:solidFill>
                <a:latin typeface="Segoe UI"/>
              </a:rPr>
              <a:t>El pipeline CI/CD consulta si puede desplegar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0" y="4023360"/>
            <a:ext cx="1947672" cy="132588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85231" y="4133087"/>
            <a:ext cx="1618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B2A7B"/>
                </a:solidFill>
                <a:latin typeface="Segoe UI"/>
              </a:rPr>
              <a:t>Web Hub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85231" y="4544568"/>
            <a:ext cx="16184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1F2433"/>
                </a:solidFill>
                <a:latin typeface="Segoe UI"/>
              </a:rPr>
              <a:t>Consola en sspillowy.com (Vercel)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4023360"/>
            <a:ext cx="1947672" cy="132588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71231" y="4133087"/>
            <a:ext cx="1618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B2A7B"/>
                </a:solidFill>
                <a:latin typeface="Segoe UI"/>
              </a:rPr>
              <a:t>Pulse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71231" y="4544568"/>
            <a:ext cx="16184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1F2433"/>
                </a:solidFill>
                <a:latin typeface="Segoe UI"/>
              </a:rPr>
              <a:t>App móvil para aprobar excepciones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92640" y="4023360"/>
            <a:ext cx="1947672" cy="132588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57232" y="4133087"/>
            <a:ext cx="1618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B2A7B"/>
                </a:solidFill>
                <a:latin typeface="Segoe UI"/>
              </a:rPr>
              <a:t>Grafana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57232" y="4544568"/>
            <a:ext cx="16184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1F2433"/>
                </a:solidFill>
                <a:latin typeface="Segoe UI"/>
              </a:rPr>
              <a:t>Métricas e historial vía Prometheus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669280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5B6370"/>
                </a:solidFill>
                <a:latin typeface="Segoe UI"/>
              </a:rPr>
              <a:t>Cada cuenta tiene su espacio privado: sus repositorios, hallazgos, claves y conexiones no los ve nadie más. Los tokens de repositorios privados se guardan cifrados.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2112264" cy="310896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1122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EVIDENCIA · APLICACIÓN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192B"/>
                </a:solidFill>
                <a:latin typeface="Segoe UI"/>
              </a:rPr>
              <a:t>Plataforma publicada en sspillowy.com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905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SSPILLOWY · Avance Fase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/>
            </a:r>
            <a:r>
              <a:rPr sz="1000">
                <a:solidFill>
                  <a:srgbClr val="5B6370"/>
                </a:solidFill>
                <a:latin typeface="Segoe UI"/>
              </a:rPr>
              <a:t>9 / 17</a:t>
            </a:r>
          </a:p>
        </p:txBody>
      </p:sp>
      <p:pic>
        <p:nvPicPr>
          <p:cNvPr id="9" name="Picture 8" descr="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680960" cy="4380776"/>
          </a:xfrm>
          <a:prstGeom prst="rect">
            <a:avLst/>
          </a:prstGeom>
          <a:ln w="12700">
            <a:solidFill>
              <a:srgbClr val="D8DCE3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8503920" y="1783080"/>
            <a:ext cx="3136392" cy="987552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783080"/>
            <a:ext cx="128016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4B2A7B"/>
                </a:solidFill>
                <a:latin typeface="Segoe UI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80" y="1783080"/>
            <a:ext cx="150876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1F2433"/>
                </a:solidFill>
                <a:latin typeface="Segoe UI"/>
              </a:rPr>
              <a:t>módulos en la consola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2898648"/>
            <a:ext cx="3136392" cy="987552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2898648"/>
            <a:ext cx="128016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4B2A7B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2898648"/>
            <a:ext cx="150876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1F2433"/>
                </a:solidFill>
                <a:latin typeface="Segoe UI"/>
              </a:rPr>
              <a:t>repositorios monitoreados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4014215"/>
            <a:ext cx="3136392" cy="987552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4014215"/>
            <a:ext cx="128016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4B2A7B"/>
                </a:solidFill>
                <a:latin typeface="Segoe UI"/>
              </a:rPr>
              <a:t>790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4014215"/>
            <a:ext cx="150876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1F2433"/>
                </a:solidFill>
                <a:latin typeface="Segoe UI"/>
              </a:rPr>
              <a:t>hallazgos detectados en 30 días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5129784"/>
            <a:ext cx="3136392" cy="987552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5129784"/>
            <a:ext cx="128016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4B2A7B"/>
                </a:solidFill>
                <a:latin typeface="Segoe UI"/>
              </a:rPr>
              <a:t>86 %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5129784"/>
            <a:ext cx="150876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1F2433"/>
                </a:solidFill>
                <a:latin typeface="Segoe UI"/>
              </a:rPr>
              <a:t>de análisis aprobados por el gate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2112264" cy="310896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1122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EVIDENCIA · APLICACIÓN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192B"/>
                </a:solidFill>
                <a:latin typeface="Segoe UI"/>
              </a:rPr>
              <a:t>Del repositorio a la decisión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905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SSPILLOWY · Avance Fase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/>
            </a:r>
            <a:r>
              <a:rPr sz="1000">
                <a:solidFill>
                  <a:srgbClr val="5B6370"/>
                </a:solidFill>
                <a:latin typeface="Segoe UI"/>
              </a:rPr>
              <a:t>10 / 17</a:t>
            </a:r>
          </a:p>
        </p:txBody>
      </p:sp>
      <p:pic>
        <p:nvPicPr>
          <p:cNvPr id="9" name="Picture 8" descr="re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5577840" cy="2075183"/>
          </a:xfrm>
          <a:prstGeom prst="rect">
            <a:avLst/>
          </a:prstGeom>
          <a:ln w="12700">
            <a:solidFill>
              <a:srgbClr val="D8DC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4069080"/>
            <a:ext cx="5577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4192B"/>
                </a:solidFill>
                <a:latin typeface="Segoe UI"/>
              </a:rPr>
              <a:t>1. Agregar y analizar. </a:t>
            </a:r>
            <a:r>
              <a:rPr sz="1400" b="0">
                <a:solidFill>
                  <a:srgbClr val="1F2433"/>
                </a:solidFill>
                <a:latin typeface="Segoe UI"/>
              </a:rPr>
              <a:t>Se elige la plataforma, se pega la URL y, si el repositorio es privado, se agrega un token. Cada análisis ejecuta los cuatro motores.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74920"/>
            <a:ext cx="5577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4192B"/>
                </a:solidFill>
                <a:latin typeface="Segoe UI"/>
              </a:rPr>
              <a:t>2. Decidir. </a:t>
            </a:r>
            <a:r>
              <a:rPr sz="1400" b="0">
                <a:solidFill>
                  <a:srgbClr val="1F2433"/>
                </a:solidFill>
                <a:latin typeface="Segoe UI"/>
              </a:rPr>
              <a:t>El Security Gate explica en lenguaje simple por qué bloquea (por ejemplo, 82 vulnerabilidades altas con un máximo de 20) y permite pedir una excepción temporal.</a:t>
            </a:r>
          </a:p>
        </p:txBody>
      </p:sp>
      <p:pic>
        <p:nvPicPr>
          <p:cNvPr id="12" name="Picture 11" descr="g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5239512" cy="4134902"/>
          </a:xfrm>
          <a:prstGeom prst="rect">
            <a:avLst/>
          </a:prstGeom>
          <a:ln w="12700">
            <a:solidFill>
              <a:srgbClr val="D8DCE3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2372868" cy="310896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3728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EVIDENCIA · BASE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192B"/>
                </a:solidFill>
                <a:latin typeface="Segoe UI"/>
              </a:rPr>
              <a:t>PostgreSQL 16 · 22 tablas · 245 columnas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905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SSPILLOWY · Avance Fase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/>
            </a:r>
            <a:r>
              <a:rPr sz="1000">
                <a:solidFill>
                  <a:srgbClr val="5B6370"/>
                </a:solidFill>
                <a:latin typeface="Segoe UI"/>
              </a:rPr>
              <a:t>11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538728" cy="310896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4B2A7B"/>
                </a:solidFill>
                <a:latin typeface="Segoe UI"/>
              </a:rPr>
              <a:t>Núcleo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95728"/>
            <a:ext cx="3108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workspaces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workspace_members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users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auth_sessions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repositories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scans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findings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1783080"/>
            <a:ext cx="3538728" cy="310896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92024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4B2A7B"/>
                </a:solidFill>
                <a:latin typeface="Segoe UI"/>
              </a:rPr>
              <a:t>Gobierno y trazabilidad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395728"/>
            <a:ext cx="3108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security_gates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gate_bypass_requests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audit_events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ws_integrations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pillow_daily_usage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1783080"/>
            <a:ext cx="3538728" cy="310896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92024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4B2A7B"/>
                </a:solidFill>
                <a:latin typeface="Segoe UI"/>
              </a:rPr>
              <a:t>Módulos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2395728"/>
            <a:ext cx="3108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secret_incidents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sbom_components · sbom_snapshots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ws_compliance_frameworks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ws_compliance_controls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compliance_snapshots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runbooks · runbook_executions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2433"/>
                </a:solidFill>
                <a:latin typeface="Segoe UI"/>
              </a:rPr>
              <a:t>dashboard_views · obs_buckets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20640"/>
            <a:ext cx="1828800" cy="457200"/>
          </a:xfrm>
          <a:prstGeom prst="rect">
            <a:avLst/>
          </a:prstGeom>
          <a:solidFill>
            <a:srgbClr val="14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2064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workspaces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23160" y="5349240"/>
            <a:ext cx="393192" cy="0"/>
          </a:xfrm>
          <a:prstGeom prst="line">
            <a:avLst/>
          </a:prstGeom>
          <a:ln w="19050">
            <a:solidFill>
              <a:srgbClr val="5B63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862072" y="5120640"/>
            <a:ext cx="1828800" cy="457200"/>
          </a:xfrm>
          <a:prstGeom prst="rect">
            <a:avLst/>
          </a:prstGeom>
          <a:solidFill>
            <a:srgbClr val="14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62072" y="512064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repositories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36592" y="5349240"/>
            <a:ext cx="393191" cy="0"/>
          </a:xfrm>
          <a:prstGeom prst="line">
            <a:avLst/>
          </a:prstGeom>
          <a:ln w="19050">
            <a:solidFill>
              <a:srgbClr val="5B63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75503" y="5120640"/>
            <a:ext cx="1828800" cy="457200"/>
          </a:xfrm>
          <a:prstGeom prst="rect">
            <a:avLst/>
          </a:prstGeom>
          <a:solidFill>
            <a:srgbClr val="14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75503" y="512064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scans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0023" y="5349240"/>
            <a:ext cx="393192" cy="0"/>
          </a:xfrm>
          <a:prstGeom prst="line">
            <a:avLst/>
          </a:prstGeom>
          <a:ln w="19050">
            <a:solidFill>
              <a:srgbClr val="5B63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488936" y="5120640"/>
            <a:ext cx="1828800" cy="457200"/>
          </a:xfrm>
          <a:prstGeom prst="rect">
            <a:avLst/>
          </a:prstGeom>
          <a:solidFill>
            <a:srgbClr val="14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88936" y="512064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findings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63455" y="5349240"/>
            <a:ext cx="393193" cy="0"/>
          </a:xfrm>
          <a:prstGeom prst="line">
            <a:avLst/>
          </a:prstGeom>
          <a:ln w="19050">
            <a:solidFill>
              <a:srgbClr val="5B63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802367" y="5120640"/>
            <a:ext cx="1828800" cy="457200"/>
          </a:xfrm>
          <a:prstGeom prst="rect">
            <a:avLst/>
          </a:prstGeom>
          <a:solidFill>
            <a:srgbClr val="14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02367" y="512064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audit_events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71500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5B6370"/>
                </a:solidFill>
                <a:latin typeface="Segoe UI"/>
              </a:rPr>
              <a:t>Cada hallazgo guarda motor, severidad, CWE, archivo, línea y una huella única. Contraseñas con hash bcrypt, tokens de repositorios cifrados y datos separados por espacio de trabajo. Se adjunta el diccionario de datos.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2372868" cy="310896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23728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EVIDENCIA · DOCUMENTACIÓN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192B"/>
                </a:solidFill>
                <a:latin typeface="Segoe UI"/>
              </a:rPr>
              <a:t>Documentación y registro del trabajo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905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SSPILLOWY · Avance Fase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/>
            </a:r>
            <a:r>
              <a:rPr sz="1000">
                <a:solidFill>
                  <a:srgbClr val="5B6370"/>
                </a:solidFill>
                <a:latin typeface="Segoe UI"/>
              </a:rPr>
              <a:t>12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6766560" cy="96012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92807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92B"/>
                </a:solidFill>
                <a:latin typeface="Segoe UI"/>
              </a:rPr>
              <a:t>Dentro de la plataforma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58568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F2433"/>
                </a:solidFill>
                <a:latin typeface="Segoe UI"/>
              </a:rPr>
              <a:t>Sección Documentación con guías paso a paso y glosario, escrita para usuarios.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80360"/>
            <a:ext cx="6766560" cy="96012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90088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92B"/>
                </a:solidFill>
                <a:latin typeface="Segoe UI"/>
              </a:rPr>
              <a:t>Documentos técnicos y del curso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55848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F2433"/>
                </a:solidFill>
                <a:latin typeface="Segoe UI"/>
              </a:rPr>
              <a:t>Documento técnico, especificación de Pulse, Guía 2.4 y Diario de reflexión.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77639"/>
            <a:ext cx="6766560" cy="96012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87368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92B"/>
                </a:solidFill>
                <a:latin typeface="Segoe UI"/>
              </a:rPr>
              <a:t>Diccionario de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53127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F2433"/>
                </a:solidFill>
                <a:latin typeface="Segoe UI"/>
              </a:rPr>
              <a:t>Las 22 tablas con sus columnas, tipos y claves.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74920"/>
            <a:ext cx="6766560" cy="96012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84648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92B"/>
                </a:solidFill>
                <a:latin typeface="Segoe UI"/>
              </a:rPr>
              <a:t>Repositorio Git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50408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F2433"/>
                </a:solidFill>
                <a:latin typeface="Segoe UI"/>
              </a:rPr>
              <a:t>Código e historial desde el 23 de agosto: qué se hizo y quién lo hizo.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1783080"/>
            <a:ext cx="1865376" cy="2057400"/>
          </a:xfrm>
          <a:prstGeom prst="rect">
            <a:avLst/>
          </a:prstGeom>
          <a:solidFill>
            <a:srgbClr val="14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194560"/>
            <a:ext cx="18653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105+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3017520"/>
            <a:ext cx="16824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B8F0"/>
                </a:solidFill>
                <a:latin typeface="Segoe UI"/>
              </a:rPr>
              <a:t>commits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83496" y="1783080"/>
            <a:ext cx="1865376" cy="2057400"/>
          </a:xfrm>
          <a:prstGeom prst="rect">
            <a:avLst/>
          </a:prstGeom>
          <a:solidFill>
            <a:srgbClr val="14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83496" y="2194560"/>
            <a:ext cx="18653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4936" y="3017520"/>
            <a:ext cx="16824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B8F0"/>
                </a:solidFill>
                <a:latin typeface="Segoe UI"/>
              </a:rPr>
              <a:t>tablas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3977639"/>
            <a:ext cx="1865376" cy="2057400"/>
          </a:xfrm>
          <a:prstGeom prst="rect">
            <a:avLst/>
          </a:prstGeom>
          <a:solidFill>
            <a:srgbClr val="14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4389120"/>
            <a:ext cx="18653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5212079"/>
            <a:ext cx="16824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B8F0"/>
                </a:solidFill>
                <a:latin typeface="Segoe UI"/>
              </a:rPr>
              <a:t>motores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83496" y="3977639"/>
            <a:ext cx="1865376" cy="2057400"/>
          </a:xfrm>
          <a:prstGeom prst="rect">
            <a:avLst/>
          </a:prstGeom>
          <a:solidFill>
            <a:srgbClr val="14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83496" y="4389120"/>
            <a:ext cx="18653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74936" y="5212079"/>
            <a:ext cx="16824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C9B8F0"/>
                </a:solidFill>
                <a:latin typeface="Segoe UI"/>
              </a:rPr>
              <a:t>marcos normativos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851660" cy="310896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8516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EVIDENCIA · GESTIÓN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192B"/>
                </a:solidFill>
                <a:latin typeface="Segoe UI"/>
              </a:rPr>
              <a:t>Gestión del trabajo: Jira y Confluence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905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SSPILLOWY · Avance Fase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/>
            </a:r>
            <a:r>
              <a:rPr sz="1000">
                <a:solidFill>
                  <a:srgbClr val="5B6370"/>
                </a:solidFill>
                <a:latin typeface="Segoe UI"/>
              </a:rPr>
              <a:t>13 / 17</a:t>
            </a:r>
          </a:p>
        </p:txBody>
      </p:sp>
      <p:pic>
        <p:nvPicPr>
          <p:cNvPr id="9" name="Picture 8" descr="04_jira_back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3644205"/>
          </a:xfrm>
          <a:prstGeom prst="rect">
            <a:avLst/>
          </a:prstGeom>
          <a:ln w="12700">
            <a:solidFill>
              <a:srgbClr val="D8DCE3"/>
            </a:solidFill>
          </a:ln>
        </p:spPr>
      </p:pic>
      <p:pic>
        <p:nvPicPr>
          <p:cNvPr id="10" name="Picture 9" descr="05_confluence_espac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306" y="1783080"/>
            <a:ext cx="2813538" cy="3657600"/>
          </a:xfrm>
          <a:prstGeom prst="rect">
            <a:avLst/>
          </a:prstGeom>
          <a:ln w="12700">
            <a:solidFill>
              <a:srgbClr val="D8DCE3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48640" y="5577840"/>
            <a:ext cx="7040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F2433"/>
                </a:solidFill>
                <a:latin typeface="Segoe UI"/>
              </a:rPr>
              <a:t>Jira: backlog por sprint y épicas por componente (web, backend, Pulse y calidad). Cada tarea tiene responsable, estado y fecha.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5577840"/>
            <a:ext cx="37764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1F2433"/>
                </a:solidFill>
                <a:latin typeface="Segoe UI"/>
              </a:rPr>
              <a:t>Confluence: documentación organizada por áreas, de producto a operación.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809244" cy="310896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80924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CALIDAD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192B"/>
                </a:solidFill>
                <a:latin typeface="Segoe UI"/>
              </a:rPr>
              <a:t>Cómo resguardamos la calidad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905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SSPILLOWY · Avance Fase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/>
            </a:r>
            <a:r>
              <a:rPr sz="1000">
                <a:solidFill>
                  <a:srgbClr val="5B6370"/>
                </a:solidFill>
                <a:latin typeface="Segoe UI"/>
              </a:rPr>
              <a:t>14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40680" cy="164592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47672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4B2A7B"/>
                </a:solidFill>
                <a:latin typeface="Segoe UI"/>
              </a:rPr>
              <a:t>Estándares reconocidos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41448"/>
            <a:ext cx="4983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433"/>
                </a:solidFill>
                <a:latin typeface="Segoe UI"/>
              </a:rPr>
              <a:t>Los hallazgos se clasifican con OWASP Top 10, CWE e ISO/IEC 27001:2022.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1" y="1783080"/>
            <a:ext cx="5440680" cy="164592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947672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4B2A7B"/>
                </a:solidFill>
                <a:latin typeface="Segoe UI"/>
              </a:rPr>
              <a:t>La IA no decide sola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441448"/>
            <a:ext cx="4983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433"/>
                </a:solidFill>
                <a:latin typeface="Segoe UI"/>
              </a:rPr>
              <a:t>Pillow propone y explica; una persona aprueba cada cambio (human-in-the-loop).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11880"/>
            <a:ext cx="5440680" cy="164592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76472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4B2A7B"/>
                </a:solidFill>
                <a:latin typeface="Segoe UI"/>
              </a:rPr>
              <a:t>Revisión de seguridad propia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70248"/>
            <a:ext cx="4983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433"/>
                </a:solidFill>
                <a:latin typeface="Segoe UI"/>
              </a:rPr>
              <a:t>Datos aislados por cuenta, tokens cifrados, secretos por espacio y contraseñas con bcrypt.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1" y="3611880"/>
            <a:ext cx="5440680" cy="164592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3776472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4B2A7B"/>
                </a:solidFill>
                <a:latin typeface="Segoe UI"/>
              </a:rPr>
              <a:t>Pruebas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4270248"/>
            <a:ext cx="4983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433"/>
                </a:solidFill>
                <a:latin typeface="Segoe UI"/>
              </a:rPr>
              <a:t>Manuales antes de cada entrega. Semanas 13 y 14: Pytest, SonarQube, JMeter y matriz de casos.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440680"/>
            <a:ext cx="11091672" cy="777240"/>
          </a:xfrm>
          <a:prstGeom prst="rect">
            <a:avLst/>
          </a:prstGeom>
          <a:solidFill>
            <a:srgbClr val="14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440680"/>
            <a:ext cx="10607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La seguridad que SSPILLOWY exige a otros proyectos, la aplicamos primero en el nuestro.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982980" cy="310896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829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MONITOREO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192B"/>
                </a:solidFill>
                <a:latin typeface="Segoe UI"/>
              </a:rPr>
              <a:t>Ajustes al plan y dificultades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905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SSPILLOWY · Avance Fase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/>
            </a:r>
            <a:r>
              <a:rPr sz="1000">
                <a:solidFill>
                  <a:srgbClr val="5B6370"/>
                </a:solidFill>
                <a:latin typeface="Segoe UI"/>
              </a:rPr>
              <a:t>15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40680" cy="443484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4B2A7B"/>
                </a:solidFill>
                <a:latin typeface="Segoe UI"/>
              </a:rPr>
              <a:t>Ajustes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50292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1F2433"/>
                </a:solidFill>
                <a:latin typeface="Segoe UI"/>
              </a:rPr>
              <a:t>•  Redis/ARQ reemplazado por tareas en segundo plano: suficiente y más simple de desplegar.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1F2433"/>
                </a:solidFill>
                <a:latin typeface="Segoe UI"/>
              </a:rPr>
              <a:t>•  IA con un proveedor y modelo de respaldo, en vez de un enrutador entre varios modelos.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1F2433"/>
                </a:solidFill>
                <a:latin typeface="Segoe UI"/>
              </a:rPr>
              <a:t>•  Consola ampliada: cumplimiento, SBOM, secretos, observabilidad y trazabilidad.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1F2433"/>
                </a:solidFill>
                <a:latin typeface="Segoe UI"/>
              </a:rPr>
              <a:t>•  Nuevo: espacios privados por cuenta y tokens cifrados.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1F2433"/>
                </a:solidFill>
                <a:latin typeface="Segoe UI"/>
              </a:rPr>
              <a:t>•  Plan ajustado: producto listo en la semana 14, la 15 para pulir y la 16 y 17 para presentar.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783080"/>
            <a:ext cx="5440680" cy="443484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92024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4B2A7B"/>
                </a:solidFill>
                <a:latin typeface="Segoe UI"/>
              </a:rPr>
              <a:t>Dificultades y cómo las resolvimos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423160"/>
            <a:ext cx="50292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14192B"/>
                </a:solidFill>
                <a:latin typeface="Segoe UI"/>
              </a:rPr>
              <a:t>Motores fallando en Docker: </a:t>
            </a:r>
            <a:r>
              <a:rPr sz="1400" b="0">
                <a:solidFill>
                  <a:srgbClr val="1F2433"/>
                </a:solidFill>
                <a:latin typeface="Segoe UI"/>
              </a:rPr>
              <a:t>uno a la vez, versiones fijas y exclusión de carpetas de demostración.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14192B"/>
                </a:solidFill>
                <a:latin typeface="Segoe UI"/>
              </a:rPr>
              <a:t>Respuestas irregulares de la IA: </a:t>
            </a:r>
            <a:r>
              <a:rPr sz="1400" b="0">
                <a:solidFill>
                  <a:srgbClr val="1F2433"/>
                </a:solidFill>
                <a:latin typeface="Segoe UI"/>
              </a:rPr>
              <a:t>reintentos, modelo de respaldo y lectura más robusta.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14192B"/>
                </a:solidFill>
                <a:latin typeface="Segoe UI"/>
              </a:rPr>
              <a:t>Datos visibles entre cuentas: </a:t>
            </a:r>
            <a:r>
              <a:rPr sz="1400" b="0">
                <a:solidFill>
                  <a:srgbClr val="1F2433"/>
                </a:solidFill>
                <a:latin typeface="Segoe UI"/>
              </a:rPr>
              <a:t>espacios privados, secretos por espacio y tokens cifrados.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14192B"/>
                </a:solidFill>
                <a:latin typeface="Segoe UI"/>
              </a:rPr>
              <a:t>Conflictos al integrar la app: </a:t>
            </a:r>
            <a:r>
              <a:rPr sz="1400" b="0">
                <a:solidFill>
                  <a:srgbClr val="1F2433"/>
                </a:solidFill>
                <a:latin typeface="Segoe UI"/>
              </a:rPr>
              <a:t>integrar más seguido, con contratos de API documentados.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14192B"/>
                </a:solidFill>
                <a:latin typeface="Segoe UI"/>
              </a:rPr>
              <a:t>El alcance creció: </a:t>
            </a:r>
            <a:r>
              <a:rPr sz="1400" b="0">
                <a:solidFill>
                  <a:srgbClr val="1F2433"/>
                </a:solidFill>
                <a:latin typeface="Segoe UI"/>
              </a:rPr>
              <a:t>congelamos módulos desde la semana 9; ahora pulimos lo integrado.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417320" cy="310896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417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192B"/>
                </a:solidFill>
                <a:latin typeface="Segoe UI"/>
              </a:rPr>
              <a:t>Lo que viene · producto listo en la semana 14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81328"/>
            <a:ext cx="11091672" cy="0"/>
          </a:xfrm>
          <a:prstGeom prst="line">
            <a:avLst/>
          </a:prstGeom>
          <a:ln w="19050">
            <a:solidFill>
              <a:srgbClr val="D8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>SSPILLOWY · Avance Fase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70"/>
                </a:solidFill>
                <a:latin typeface="Segoe UI"/>
              </a:rPr>
              <a:t/>
            </a:r>
            <a:r>
              <a:rPr sz="1000">
                <a:solidFill>
                  <a:srgbClr val="5B6370"/>
                </a:solidFill>
                <a:latin typeface="Segoe UI"/>
              </a:rPr>
              <a:t>16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2622042" cy="502920"/>
          </a:xfrm>
          <a:prstGeom prst="rect">
            <a:avLst/>
          </a:prstGeom>
          <a:solidFill>
            <a:srgbClr val="14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262204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Semanas 10 – 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2622042" cy="329184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21970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4B2A7B"/>
                </a:solidFill>
                <a:latin typeface="Segoe UI"/>
              </a:rPr>
              <a:t>Terminar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999232"/>
            <a:ext cx="221970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50" b="0">
                <a:solidFill>
                  <a:srgbClr val="1F2433"/>
                </a:solidFill>
                <a:latin typeface="Segoe UI"/>
              </a:rPr>
              <a:t>•  Pulse con la API real: push, biometría y aprobación (Pilar).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50" b="0">
                <a:solidFill>
                  <a:srgbClr val="1F2433"/>
                </a:solidFill>
                <a:latin typeface="Segoe UI"/>
              </a:rPr>
              <a:t>•  Endpoints para la app y pulido de la consola (Sebastián).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50" b="0">
                <a:solidFill>
                  <a:srgbClr val="1F2433"/>
                </a:solidFill>
                <a:latin typeface="Segoe UI"/>
              </a:rPr>
              <a:t>•  Sentry y Grafana Cloud desde la semana 12.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71850" y="1783080"/>
            <a:ext cx="2622042" cy="502920"/>
          </a:xfrm>
          <a:prstGeom prst="rect">
            <a:avLst/>
          </a:prstGeom>
          <a:solidFill>
            <a:srgbClr val="14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1850" y="1783080"/>
            <a:ext cx="262204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Semanas 13 – 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71850" y="2286000"/>
            <a:ext cx="2622042" cy="329184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73018" y="2450592"/>
            <a:ext cx="221970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4B2A7B"/>
                </a:solidFill>
                <a:latin typeface="Segoe UI"/>
              </a:rPr>
              <a:t>Probar y cerrar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3018" y="2999232"/>
            <a:ext cx="221970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50" b="0">
                <a:solidFill>
                  <a:srgbClr val="1F2433"/>
                </a:solidFill>
                <a:latin typeface="Segoe UI"/>
              </a:rPr>
              <a:t>•  Pytest, SonarQube, JMeter y matriz de casos (Benjamín).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50" b="0">
                <a:solidFill>
                  <a:srgbClr val="1F2433"/>
                </a:solidFill>
                <a:latin typeface="Segoe UI"/>
              </a:rPr>
              <a:t>•  Informe y evidencia (los tres).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50" b="0">
                <a:solidFill>
                  <a:srgbClr val="1F2433"/>
                </a:solidFill>
                <a:latin typeface="Segoe UI"/>
              </a:rPr>
              <a:t>•  Producto listo y probado.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5060" y="1783080"/>
            <a:ext cx="2622042" cy="502920"/>
          </a:xfrm>
          <a:prstGeom prst="rect">
            <a:avLst/>
          </a:prstGeom>
          <a:solidFill>
            <a:srgbClr val="14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5060" y="1783080"/>
            <a:ext cx="262204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Semana 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5060" y="2286000"/>
            <a:ext cx="2622042" cy="329184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6228" y="2450592"/>
            <a:ext cx="221970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4B2A7B"/>
                </a:solidFill>
                <a:latin typeface="Segoe UI"/>
              </a:rPr>
              <a:t>Pulir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2999232"/>
            <a:ext cx="221970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50" b="0">
                <a:solidFill>
                  <a:srgbClr val="1F2433"/>
                </a:solidFill>
                <a:latin typeface="Segoe UI"/>
              </a:rPr>
              <a:t>•  Ajustes según la retroalimentación.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50" b="0">
                <a:solidFill>
                  <a:srgbClr val="1F2433"/>
                </a:solidFill>
                <a:latin typeface="Segoe UI"/>
              </a:rPr>
              <a:t>•  Mejora continua de cada módulo.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18270" y="1783080"/>
            <a:ext cx="2622042" cy="502920"/>
          </a:xfrm>
          <a:prstGeom prst="rect">
            <a:avLst/>
          </a:prstGeom>
          <a:solidFill>
            <a:srgbClr val="14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8270" y="1783080"/>
            <a:ext cx="262204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Semanas 16 – 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8270" y="2286000"/>
            <a:ext cx="2622042" cy="329184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19438" y="2450592"/>
            <a:ext cx="221970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4B2A7B"/>
                </a:solidFill>
                <a:latin typeface="Segoe UI"/>
              </a:rPr>
              <a:t>Presentar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9438" y="2999232"/>
            <a:ext cx="221970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50" b="0">
                <a:solidFill>
                  <a:srgbClr val="1F2433"/>
                </a:solidFill>
                <a:latin typeface="Segoe UI"/>
              </a:rPr>
              <a:t>•  Presentación oficial del sistema.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50" b="0">
                <a:solidFill>
                  <a:srgbClr val="1F2433"/>
                </a:solidFill>
                <a:latin typeface="Segoe UI"/>
              </a:rPr>
              <a:t>•  Demo completa de punta a punta.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4192B"/>
                </a:solidFill>
                <a:latin typeface="Segoe UI"/>
              </a:rPr>
              <a:t>Meta: producto completo y probado en la semana 14, con margen para imprevistos.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Segoe UI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C9B8F0"/>
                </a:solidFill>
                <a:latin typeface="Segoe UI"/>
              </a:rPr>
              <a:t>Lo que nos llevamos de esta fase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Segoe UI"/>
              </a:rPr>
              <a:t>•  Controlar el alcance vale tanto como construir.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Segoe UI"/>
              </a:rPr>
              <a:t>•  Integrar seguido evita conflictos grandes.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Segoe UI"/>
              </a:rPr>
              <a:t>•  La IA propone; una persona decide.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526280"/>
            <a:ext cx="4663440" cy="0"/>
          </a:xfrm>
          <a:prstGeom prst="line">
            <a:avLst/>
          </a:prstGeom>
          <a:ln w="19050">
            <a:solidFill>
              <a:srgbClr val="4B2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Demo en vivo: sspillowy.com   ·   ¿Preguntas?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9B8F0"/>
                </a:solidFill>
                <a:latin typeface="Segoe UI"/>
              </a:rPr>
              <a:t>Sebastián Tralma  ·  Benjamín Hernández  ·  Pilar Valencia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